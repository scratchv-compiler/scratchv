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2DD4B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4572000"/>
            <a:ext cx="3657600" cy="3657600"/>
          </a:xfrm>
          <a:prstGeom prst="ellipse">
            <a:avLst/>
          </a:prstGeom>
          <a:solidFill>
            <a:srgbClr val="8B5CF6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148A7A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1200" b="1">
                <a:solidFill>
                  <a:srgbClr val="2DD4BF"/>
                </a:solidFill>
                <a:latin typeface="JetBrains Mono"/>
              </a:defRPr>
            </a:pPr>
            <a:r>
              <a:t>SCRATCHV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  <a:defRPr sz="4800" b="1">
                <a:solidFill>
                  <a:srgbClr val="FFFFFF"/>
                </a:solidFill>
                <a:latin typeface="Inter"/>
              </a:defRPr>
            </a:pPr>
            <a:r>
              <a:t>From AI Models to Silicon Instructions:</a:t>
            </a:r>
            <a:br/>
            <a:r>
              <a:t>Building Your First Compiler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1800" b="0">
                <a:solidFill>
                  <a:srgbClr val="94A3B8"/>
                </a:solidFill>
                <a:latin typeface="Inter"/>
              </a:defRPr>
            </a:pPr>
            <a:r>
              <a:t>An open-source, beginner-friendly journey into the world of compilers, AI acceleration, and RISC-V.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5029200" cy="50292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4754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🚀  Open Source  ·  Hands-on  ·  12 Weeks  ·  Mentor-Guided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502920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  <a:defRPr sz="1100" b="0">
                <a:solidFill>
                  <a:srgbClr val="94A3B8"/>
                </a:solidFill>
                <a:latin typeface="Inter"/>
              </a:defRPr>
            </a:pPr>
            <a:r>
              <a:t>Project Launch: July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53492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  <a:defRPr sz="1100" b="0">
                <a:solidFill>
                  <a:srgbClr val="94A3B8"/>
                </a:solidFill>
                <a:latin typeface="Inter"/>
              </a:defRPr>
            </a:pPr>
            <a:r>
              <a:t>Target: RISC-V (via tinyfive sim)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Inter"/>
              </a:defRPr>
            </a:pPr>
            <a:r>
              <a:t>#ScratchV  #Compiler  #RISC-V  #OpenSource  #AI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Inter"/>
              </a:defRPr>
            </a:pPr>
            <a:r>
              <a:t>01  / 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  <a:defRPr sz="1400" b="1">
                <a:solidFill>
                  <a:srgbClr val="2DD4BF"/>
                </a:solidFill>
                <a:latin typeface="JetBrains Mono"/>
              </a:defRPr>
            </a:pPr>
            <a:r>
              <a:t>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3600" b="1">
                <a:solidFill>
                  <a:srgbClr val="E8ECF4"/>
                </a:solidFill>
                <a:latin typeface="Inter"/>
              </a:defRPr>
            </a:pPr>
            <a:r>
              <a:t>The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600" b="0">
                <a:solidFill>
                  <a:srgbClr val="94A3B8"/>
                </a:solidFill>
                <a:latin typeface="Inter"/>
              </a:defRPr>
            </a:pPr>
            <a:r>
              <a:t>Three questions that sparked this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2400" b="1">
                <a:solidFill>
                  <a:srgbClr val="2DD4BF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3474720" cy="29260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29260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How does Python</a:t>
            </a:r>
            <a:br/>
            <a:r>
              <a:t>become machine code?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29260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From your editor to the CPU — what happens</a:t>
            </a:r>
            <a:br/>
            <a:r>
              <a:t>in between? Compilers are the hidden</a:t>
            </a:r>
            <a:br/>
            <a:r>
              <a:t>bridge we use every 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7744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2400" b="1">
                <a:solidFill>
                  <a:srgbClr val="8B5CF6"/>
                </a:solidFill>
                <a:latin typeface="JetBrains Mono"/>
              </a:defRPr>
            </a:pPr>
            <a: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834640"/>
            <a:ext cx="3474720" cy="29260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017520"/>
            <a:ext cx="29260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How do AI models</a:t>
            </a:r>
            <a:br/>
            <a:r>
              <a:t>run on tiny chips?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114800"/>
            <a:ext cx="29260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Neural networks are math; chips speak</a:t>
            </a:r>
            <a:br/>
            <a:r>
              <a:t>0s and 1s. Who translates? That’s the</a:t>
            </a:r>
            <a:br/>
            <a:r>
              <a:t>compiler’s superpower.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2400" b="1">
                <a:solidFill>
                  <a:srgbClr val="F59E0B"/>
                </a:solidFill>
                <a:latin typeface="JetBrains Mono"/>
              </a:defRPr>
            </a:pPr>
            <a:r>
              <a:t>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834640"/>
            <a:ext cx="3474720" cy="29260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017520"/>
            <a:ext cx="29260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Can I build</a:t>
            </a:r>
            <a:br/>
            <a:r>
              <a:t>a compiler myself?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114800"/>
            <a:ext cx="29260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A compiler isn’t magic — it’s just a program.</a:t>
            </a:r>
            <a:br/>
            <a:r>
              <a:t>In 12 weeks, you’ll write one from scratch</a:t>
            </a:r>
            <a:br/>
            <a:r>
              <a:t>and understand every single line.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500" b="0">
                <a:solidFill>
                  <a:srgbClr val="2DD4BF"/>
                </a:solidFill>
                <a:latin typeface="Inter"/>
              </a:defRPr>
            </a:pPr>
            <a:r>
              <a:t>You don’t need a CS degree.  You don’t need to know RISC-V.  You just need curiosity and 8–10 hours a week.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Inter"/>
              </a:defRPr>
            </a:pPr>
            <a:r>
              <a:t>02  / 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  <a:defRPr sz="1400" b="1">
                <a:solidFill>
                  <a:srgbClr val="2DD4BF"/>
                </a:solidFill>
                <a:latin typeface="JetBrains Mono"/>
              </a:defRPr>
            </a:pPr>
            <a:r>
              <a:t>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3600" b="1">
                <a:solidFill>
                  <a:srgbClr val="E8ECF4"/>
                </a:solidFill>
                <a:latin typeface="Inter"/>
              </a:defRPr>
            </a:pPr>
            <a:r>
              <a:t>What We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600" b="0">
                <a:solidFill>
                  <a:srgbClr val="94A3B8"/>
                </a:solidFill>
                <a:latin typeface="Inter"/>
              </a:defRPr>
            </a:pPr>
            <a:r>
              <a:t>A minimal AI compiler: ONNX model → RISC-V assembly, entirely from scratch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560320"/>
            <a:ext cx="2103120" cy="274320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7373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  <a:defRPr sz="1600" b="1">
                <a:solidFill>
                  <a:srgbClr val="2DD4BF"/>
                </a:solidFill>
                <a:latin typeface="Inter"/>
              </a:defRPr>
            </a:pPr>
            <a:r>
              <a:t>ONNX</a:t>
            </a:r>
            <a:br/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40"/>
            <a:ext cx="17373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Read &amp; parse</a:t>
            </a:r>
            <a:br/>
            <a:r>
              <a:t>the AI model</a:t>
            </a:r>
            <a:br/>
            <a:r>
              <a:t>file format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68880" y="3749040"/>
            <a:ext cx="228600" cy="22860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97479" y="2560320"/>
            <a:ext cx="2103120" cy="274320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59" y="2834640"/>
            <a:ext cx="17373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  <a:defRPr sz="1600" b="1">
                <a:solidFill>
                  <a:srgbClr val="8B5CF6"/>
                </a:solidFill>
                <a:latin typeface="Inter"/>
              </a:defRPr>
            </a:pPr>
            <a:r>
              <a:t>Custom</a:t>
            </a:r>
            <a:br/>
            <a:r>
              <a:t>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59" y="3749040"/>
            <a:ext cx="17373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Translate into</a:t>
            </a:r>
            <a:br/>
            <a:r>
              <a:t>your very own</a:t>
            </a:r>
            <a:br/>
            <a:r>
              <a:t>intermediate rep.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00599" y="3749040"/>
            <a:ext cx="228600" cy="22860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2560320"/>
            <a:ext cx="2103120" cy="274320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14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2834640"/>
            <a:ext cx="17373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  <a:defRPr sz="1600" b="1">
                <a:solidFill>
                  <a:srgbClr val="148A7A"/>
                </a:solidFill>
                <a:latin typeface="Inter"/>
              </a:defRPr>
            </a:pPr>
            <a:r>
              <a:t>Optimizer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749040"/>
            <a:ext cx="17373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Dead code elim.</a:t>
            </a:r>
            <a:br/>
            <a:r>
              <a:t>constant folding</a:t>
            </a:r>
            <a:br/>
            <a:r>
              <a:t>peephole opt.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32320" y="3749040"/>
            <a:ext cx="228600" cy="228600"/>
          </a:xfrm>
          <a:prstGeom prst="rightArrow">
            <a:avLst/>
          </a:prstGeom>
          <a:solidFill>
            <a:srgbClr val="14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60919" y="2560320"/>
            <a:ext cx="2103120" cy="274320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6D3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799" y="2834640"/>
            <a:ext cx="17373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  <a:defRPr sz="1600" b="1">
                <a:solidFill>
                  <a:srgbClr val="6D3AD6"/>
                </a:solidFill>
                <a:latin typeface="Inter"/>
              </a:defRPr>
            </a:pPr>
            <a:r>
              <a:t>RISC-V</a:t>
            </a:r>
            <a:br/>
            <a: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799" y="3749040"/>
            <a:ext cx="17373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Instruction selection</a:t>
            </a:r>
            <a:br/>
            <a:r>
              <a:t>register allocation</a:t>
            </a:r>
            <a:br/>
            <a:r>
              <a:t>code emission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464039" y="3749040"/>
            <a:ext cx="228600" cy="228600"/>
          </a:xfrm>
          <a:prstGeom prst="rightArrow">
            <a:avLst/>
          </a:prstGeom>
          <a:solidFill>
            <a:srgbClr val="6D3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92640" y="2560320"/>
            <a:ext cx="2103120" cy="274320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2834640"/>
            <a:ext cx="17373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  <a:defRPr sz="1600" b="1">
                <a:solidFill>
                  <a:srgbClr val="F59E0B"/>
                </a:solidFill>
                <a:latin typeface="Inter"/>
              </a:defRPr>
            </a:pPr>
            <a:r>
              <a:t>tinyfive</a:t>
            </a:r>
            <a:br/>
            <a:r>
              <a:t>Simulator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749040"/>
            <a:ext cx="17373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Run &amp; verify</a:t>
            </a:r>
            <a:br/>
            <a:r>
              <a:t>on a simulated</a:t>
            </a:r>
            <a:br/>
            <a:r>
              <a:t>RISC-V chip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57784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300" b="1">
                <a:solidFill>
                  <a:srgbClr val="10B981"/>
                </a:solidFill>
                <a:latin typeface="Inter"/>
              </a:defRPr>
            </a:pPr>
            <a:r>
              <a:t>✓  Zero black boxes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5216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100" b="0">
                <a:solidFill>
                  <a:srgbClr val="94A3B8"/>
                </a:solidFill>
                <a:latin typeface="Inter"/>
              </a:defRPr>
            </a:pPr>
            <a:r>
              <a:t>Every line is written by you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57784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300" b="1">
                <a:solidFill>
                  <a:srgbClr val="10B981"/>
                </a:solidFill>
                <a:latin typeface="Inter"/>
              </a:defRPr>
            </a:pPr>
            <a:r>
              <a:t>✓  No LLVM/MLIR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85216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100" b="0">
                <a:solidFill>
                  <a:srgbClr val="94A3B8"/>
                </a:solidFill>
                <a:latin typeface="Inter"/>
              </a:defRPr>
            </a:pPr>
            <a:r>
              <a:t>Understand without framework crutches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57784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300" b="1">
                <a:solidFill>
                  <a:srgbClr val="10B981"/>
                </a:solidFill>
                <a:latin typeface="Inter"/>
              </a:defRPr>
            </a:pPr>
            <a:r>
              <a:t>✓  Real execution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85216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100" b="0">
                <a:solidFill>
                  <a:srgbClr val="94A3B8"/>
                </a:solidFill>
                <a:latin typeface="Inter"/>
              </a:defRPr>
            </a:pPr>
            <a:r>
              <a:t>Run on tinyfive simulator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Inter"/>
              </a:defRPr>
            </a:pPr>
            <a:r>
              <a:t>03  / 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  <a:defRPr sz="1400" b="1">
                <a:solidFill>
                  <a:srgbClr val="2DD4BF"/>
                </a:solidFill>
                <a:latin typeface="JetBrains Mono"/>
              </a:defRPr>
            </a:pPr>
            <a:r>
              <a:t>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3600" b="1">
                <a:solidFill>
                  <a:srgbClr val="E8ECF4"/>
                </a:solidFill>
                <a:latin typeface="Inter"/>
              </a:defRPr>
            </a:pPr>
            <a:r>
              <a:t>Why Join?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600" b="0">
                <a:solidFill>
                  <a:srgbClr val="94A3B8"/>
                </a:solidFill>
                <a:latin typeface="Inter"/>
              </a:defRPr>
            </a:pPr>
            <a:r>
              <a:t>Three reasons this project is different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3566160" cy="365760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🧱  Build Real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▸  Not another “import torch” tutorial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8620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▸  From math formula to machine instruction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▸  Core skill for HPC, AI chips,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▸  Resume line: built a full AI→RISC-V compiler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377440"/>
            <a:ext cx="3566160" cy="365760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65176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🌍  Warm Community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8328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▸  Weekly live Q&amp;A and deep-dive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8620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▸  Peer code review — learn by teaching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3891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▸  Mentor-guided, no one left behind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89204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▸  Your code helps future learners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377440"/>
            <a:ext cx="3566160" cy="365760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65176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2000" b="1">
                <a:solidFill>
                  <a:srgbClr val="FFFFFF"/>
                </a:solidFill>
                <a:latin typeface="Inter"/>
              </a:defRPr>
            </a:pPr>
            <a:r>
              <a:t>🚀  Low Floor, High Ceiling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38328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▸  Only need basic Python or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88620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▸  14 topics across 3 difficulty tiers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3891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▸  Start with a beautifier, end with a register allocator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89204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▸  “Done is better than perfect” — flexible pacing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Inter"/>
              </a:defRPr>
            </a:pPr>
            <a:r>
              <a:t>04  / 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  <a:defRPr sz="1400" b="1">
                <a:solidFill>
                  <a:srgbClr val="2DD4BF"/>
                </a:solidFill>
                <a:latin typeface="JetBrains Mono"/>
              </a:defRPr>
            </a:pPr>
            <a:r>
              <a:t>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3600" b="1">
                <a:solidFill>
                  <a:srgbClr val="E8ECF4"/>
                </a:solidFill>
                <a:latin typeface="Inter"/>
              </a:defRPr>
            </a:pPr>
            <a:r>
              <a:t>12-Week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600" b="0">
                <a:solidFill>
                  <a:srgbClr val="94A3B8"/>
                </a:solidFill>
                <a:latin typeface="Inter"/>
              </a:defRPr>
            </a:pPr>
            <a:r>
              <a:t>Three phases. Clear milestones. Measurable progress.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3566160" cy="914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📖  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Inter"/>
              </a:defRPr>
            </a:pPr>
            <a:r>
              <a:t>Weeks 1–4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3566160" cy="310896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1800" b="1">
                <a:solidFill>
                  <a:srgbClr val="2DD4BF"/>
                </a:solidFill>
                <a:latin typeface="Inter"/>
              </a:defRPr>
            </a:pPr>
            <a: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✓  Set up toolchain &amp; run first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✓  Learn RISC-V basics &amp; tinyfive sim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✓  Walk through compiler end-to-end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✓  Milestone: understand the full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52160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000" b="0">
                <a:solidFill>
                  <a:srgbClr val="94A3B8"/>
                </a:solidFill>
                <a:latin typeface="Inter"/>
              </a:defRPr>
            </a:pPr>
            <a:r>
              <a:t>⏱  8–10 hrs/week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377440"/>
            <a:ext cx="3566160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🔨  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3464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Inter"/>
              </a:defRPr>
            </a:pPr>
            <a:r>
              <a:t>Weeks 5–9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291840"/>
            <a:ext cx="3566160" cy="310896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38328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1800" b="1">
                <a:solidFill>
                  <a:srgbClr val="8B5CF6"/>
                </a:solidFill>
                <a:latin typeface="Inter"/>
              </a:defRPr>
            </a:pPr>
            <a:r>
              <a:t>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9319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✓  Parse ONNX into custom 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3891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✓  Build RISC-V code generator 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8463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✓  Implement basic optimizations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3035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✓  Milestone: first model runs on tinyfive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852160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000" b="0">
                <a:solidFill>
                  <a:srgbClr val="94A3B8"/>
                </a:solidFill>
                <a:latin typeface="Inter"/>
              </a:defRPr>
            </a:pPr>
            <a:r>
              <a:t>⏱  8–10 hrs/week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377440"/>
            <a:ext cx="356616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4688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🏆  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83464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Inter"/>
              </a:defRPr>
            </a:pPr>
            <a:r>
              <a:t>Weeks 10–12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3291840"/>
            <a:ext cx="3566160" cy="310896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338328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1800" b="1">
                <a:solidFill>
                  <a:srgbClr val="F59E0B"/>
                </a:solidFill>
                <a:latin typeface="Inter"/>
              </a:defRPr>
            </a:pPr>
            <a:r>
              <a:t>Optimization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9319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✓  Advanced opt: CFG, reg alloc, scheduling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3891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✓  Performance benchmarking &amp; tuning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8463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✓  Documentation &amp; open-source polish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3035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✓  Milestone: final demo &amp; project wrap-up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852160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000" b="0">
                <a:solidFill>
                  <a:srgbClr val="94A3B8"/>
                </a:solidFill>
                <a:latin typeface="Inter"/>
              </a:defRPr>
            </a:pPr>
            <a:r>
              <a:t>⏱  8–10 hrs/week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Inter"/>
              </a:defRPr>
            </a:pPr>
            <a:r>
              <a:t>05  / 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  <a:defRPr sz="1400" b="1">
                <a:solidFill>
                  <a:srgbClr val="2DD4BF"/>
                </a:solidFill>
                <a:latin typeface="JetBrains Mono"/>
              </a:defRPr>
            </a:pPr>
            <a:r>
              <a:t>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3600" b="1">
                <a:solidFill>
                  <a:srgbClr val="E8ECF4"/>
                </a:solidFill>
                <a:latin typeface="Inter"/>
              </a:defRPr>
            </a:pPr>
            <a:r>
              <a:t>Curriculum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600" b="0">
                <a:solidFill>
                  <a:srgbClr val="94A3B8"/>
                </a:solidFill>
                <a:latin typeface="Inter"/>
              </a:defRPr>
            </a:pPr>
            <a:r>
              <a:t>What you’ll learn, week by week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1737360" cy="100584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000" b="1">
                <a:solidFill>
                  <a:srgbClr val="2DD4BF"/>
                </a:solidFill>
                <a:latin typeface="JetBrains Mono"/>
              </a:defRPr>
            </a:pPr>
            <a:r>
              <a:t>W1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200" b="0">
                <a:solidFill>
                  <a:srgbClr val="E8ECF4"/>
                </a:solidFill>
                <a:latin typeface="Inter"/>
              </a:defRPr>
            </a:pPr>
            <a:r>
              <a:t>Toolchain Setup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377440"/>
            <a:ext cx="1737360" cy="100584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000" b="1">
                <a:solidFill>
                  <a:srgbClr val="2DD4BF"/>
                </a:solidFill>
                <a:latin typeface="JetBrains Mono"/>
              </a:defRPr>
            </a:pPr>
            <a:r>
              <a:t>W2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74320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200" b="0">
                <a:solidFill>
                  <a:srgbClr val="E8ECF4"/>
                </a:solidFill>
                <a:latin typeface="Inter"/>
              </a:defRPr>
            </a:pPr>
            <a:r>
              <a:t>RISC-V Basics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377440"/>
            <a:ext cx="1737360" cy="100584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46888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000" b="1">
                <a:solidFill>
                  <a:srgbClr val="2DD4BF"/>
                </a:solidFill>
                <a:latin typeface="JetBrains Mono"/>
              </a:defRPr>
            </a:pPr>
            <a:r>
              <a:t>W3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74320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200" b="0">
                <a:solidFill>
                  <a:srgbClr val="E8ECF4"/>
                </a:solidFill>
                <a:latin typeface="Inter"/>
              </a:defRPr>
            </a:pPr>
            <a:r>
              <a:t>Compiler Pipeline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377440"/>
            <a:ext cx="1737360" cy="100584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14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46888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000" b="1">
                <a:solidFill>
                  <a:srgbClr val="148A7A"/>
                </a:solidFill>
                <a:latin typeface="JetBrains Mono"/>
              </a:defRPr>
            </a:pPr>
            <a:r>
              <a:t>W4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4320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200" b="0">
                <a:solidFill>
                  <a:srgbClr val="E8ECF4"/>
                </a:solidFill>
                <a:latin typeface="Inter"/>
              </a:defRPr>
            </a:pPr>
            <a:r>
              <a:t>Phase-1 Checkpoint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377440"/>
            <a:ext cx="1737360" cy="100584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46888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000" b="1">
                <a:solidFill>
                  <a:srgbClr val="8B5CF6"/>
                </a:solidFill>
                <a:latin typeface="JetBrains Mono"/>
              </a:defRPr>
            </a:pPr>
            <a:r>
              <a:t>W5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74320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200" b="0">
                <a:solidFill>
                  <a:srgbClr val="E8ECF4"/>
                </a:solidFill>
                <a:latin typeface="Inter"/>
              </a:defRPr>
            </a:pPr>
            <a:r>
              <a:t>DSL Frontend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2377440"/>
            <a:ext cx="1737360" cy="100584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246888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000" b="1">
                <a:solidFill>
                  <a:srgbClr val="8B5CF6"/>
                </a:solidFill>
                <a:latin typeface="JetBrains Mono"/>
              </a:defRPr>
            </a:pPr>
            <a:r>
              <a:t>W6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274320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200" b="0">
                <a:solidFill>
                  <a:srgbClr val="E8ECF4"/>
                </a:solidFill>
                <a:latin typeface="Inter"/>
              </a:defRPr>
            </a:pPr>
            <a:r>
              <a:t>IR Design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657600"/>
            <a:ext cx="1737360" cy="100584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4904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000" b="1">
                <a:solidFill>
                  <a:srgbClr val="8B5CF6"/>
                </a:solidFill>
                <a:latin typeface="JetBrains Mono"/>
              </a:defRPr>
            </a:pPr>
            <a:r>
              <a:t>W7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02336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200" b="0">
                <a:solidFill>
                  <a:srgbClr val="E8ECF4"/>
                </a:solidFill>
                <a:latin typeface="Inter"/>
              </a:defRPr>
            </a:pPr>
            <a:r>
              <a:t>Backend 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7440" y="3657600"/>
            <a:ext cx="1737360" cy="100584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0" y="374904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000" b="1">
                <a:solidFill>
                  <a:srgbClr val="8B5CF6"/>
                </a:solidFill>
                <a:latin typeface="JetBrains Mono"/>
              </a:defRPr>
            </a:pPr>
            <a:r>
              <a:t>W8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02336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200" b="0">
                <a:solidFill>
                  <a:srgbClr val="E8ECF4"/>
                </a:solidFill>
                <a:latin typeface="Inter"/>
              </a:defRPr>
            </a:pPr>
            <a:r>
              <a:t>Optimization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3657600"/>
            <a:ext cx="1737360" cy="100584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6D3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374904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000" b="1">
                <a:solidFill>
                  <a:srgbClr val="6D3AD6"/>
                </a:solidFill>
                <a:latin typeface="JetBrains Mono"/>
              </a:defRPr>
            </a:pPr>
            <a:r>
              <a:t>W9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02336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200" b="0">
                <a:solidFill>
                  <a:srgbClr val="E8ECF4"/>
                </a:solidFill>
                <a:latin typeface="Inter"/>
              </a:defRPr>
            </a:pPr>
            <a:r>
              <a:t>Phase-2 Checkpoint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657600"/>
            <a:ext cx="1737360" cy="100584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74904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000" b="1">
                <a:solidFill>
                  <a:srgbClr val="F59E0B"/>
                </a:solidFill>
                <a:latin typeface="JetBrains Mono"/>
              </a:defRPr>
            </a:pPr>
            <a:r>
              <a:t>W10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02336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200" b="0">
                <a:solidFill>
                  <a:srgbClr val="E8ECF4"/>
                </a:solidFill>
                <a:latin typeface="Inter"/>
              </a:defRPr>
            </a:pPr>
            <a:r>
              <a:t>Adv. Optimization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3657600"/>
            <a:ext cx="1737360" cy="100584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374904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000" b="1">
                <a:solidFill>
                  <a:srgbClr val="F59E0B"/>
                </a:solidFill>
                <a:latin typeface="JetBrains Mono"/>
              </a:defRPr>
            </a:pPr>
            <a:r>
              <a:t>W11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02336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200" b="0">
                <a:solidFill>
                  <a:srgbClr val="E8ECF4"/>
                </a:solidFill>
                <a:latin typeface="Inter"/>
              </a:defRPr>
            </a:pPr>
            <a:r>
              <a:t>Benchmark &amp; Polish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0" y="3657600"/>
            <a:ext cx="1737360" cy="100584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0" y="374904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000" b="1">
                <a:solidFill>
                  <a:srgbClr val="EF4444"/>
                </a:solidFill>
                <a:latin typeface="JetBrains Mono"/>
              </a:defRPr>
            </a:pPr>
            <a:r>
              <a:t>W12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4023360"/>
            <a:ext cx="155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200" b="0">
                <a:solidFill>
                  <a:srgbClr val="E8ECF4"/>
                </a:solidFill>
                <a:latin typeface="Inter"/>
              </a:defRPr>
            </a:pPr>
            <a:r>
              <a:t>Final Demo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400" b="0">
                <a:solidFill>
                  <a:srgbClr val="2DD4BF"/>
                </a:solidFill>
                <a:latin typeface="Inter"/>
              </a:defRPr>
            </a:pPr>
            <a:r>
              <a:t>📌  Milestones:  Aug 1 (Phase 1)  ·  Aug 28 (Phase 2)  ·  Sep 27 (Final Demo)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Each phase includes a checkpoint review, mentor feedback, and catch-up buffer.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Inter"/>
              </a:defRPr>
            </a:pPr>
            <a:r>
              <a:t>06  / 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  <a:defRPr sz="1400" b="1">
                <a:solidFill>
                  <a:srgbClr val="2DD4BF"/>
                </a:solidFill>
                <a:latin typeface="JetBrains Mono"/>
              </a:defRPr>
            </a:pPr>
            <a:r>
              <a:t>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3600" b="1">
                <a:solidFill>
                  <a:srgbClr val="E8ECF4"/>
                </a:solidFill>
                <a:latin typeface="Inter"/>
              </a:defRPr>
            </a:pPr>
            <a:r>
              <a:t>Project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600" b="0">
                <a:solidFill>
                  <a:srgbClr val="94A3B8"/>
                </a:solidFill>
                <a:latin typeface="Inter"/>
              </a:defRPr>
            </a:pPr>
            <a:r>
              <a:t>14 hands-on topics across the compiler stack, organized by difficulty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356616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04872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  Beginner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900" b="1">
                <a:solidFill>
                  <a:srgbClr val="10B981"/>
                </a:solidFill>
                <a:latin typeface="JetBrains Mono"/>
              </a:defRPr>
            </a:pPr>
            <a:r>
              <a:t>#5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1100" b="0">
                <a:solidFill>
                  <a:srgbClr val="E8ECF4"/>
                </a:solidFill>
                <a:latin typeface="Inter"/>
              </a:defRPr>
            </a:pPr>
            <a:r>
              <a:t>RISC-V Assembly Beautifier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82112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900" b="1">
                <a:solidFill>
                  <a:srgbClr val="10B981"/>
                </a:solidFill>
                <a:latin typeface="JetBrains Mono"/>
              </a:defRPr>
            </a:pPr>
            <a:r>
              <a:t>#7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82112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1100" b="0">
                <a:solidFill>
                  <a:srgbClr val="E8ECF4"/>
                </a:solidFill>
                <a:latin typeface="Inter"/>
              </a:defRPr>
            </a:pPr>
            <a:r>
              <a:t>Compiler Log Enhancer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38144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900" b="1">
                <a:solidFill>
                  <a:srgbClr val="10B981"/>
                </a:solidFill>
                <a:latin typeface="JetBrains Mono"/>
              </a:defRPr>
            </a:pPr>
            <a:r>
              <a:t>#13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38144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1100" b="0">
                <a:solidFill>
                  <a:srgbClr val="E8ECF4"/>
                </a:solidFill>
                <a:latin typeface="Inter"/>
              </a:defRPr>
            </a:pPr>
            <a:r>
              <a:t>Peephole Optimizer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94176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900" b="1">
                <a:solidFill>
                  <a:srgbClr val="10B981"/>
                </a:solidFill>
                <a:latin typeface="JetBrains Mono"/>
              </a:defRPr>
            </a:pPr>
            <a:r>
              <a:t>#14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694176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1100" b="0">
                <a:solidFill>
                  <a:srgbClr val="E8ECF4"/>
                </a:solidFill>
                <a:latin typeface="Inter"/>
              </a:defRPr>
            </a:pPr>
            <a:r>
              <a:t>Const Load Merging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50208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900" b="1">
                <a:solidFill>
                  <a:srgbClr val="10B981"/>
                </a:solidFill>
                <a:latin typeface="JetBrains Mono"/>
              </a:defRPr>
            </a:pPr>
            <a:r>
              <a:t>#20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950208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1100" b="0">
                <a:solidFill>
                  <a:srgbClr val="E8ECF4"/>
                </a:solidFill>
                <a:latin typeface="Inter"/>
              </a:defRPr>
            </a:pPr>
            <a:r>
              <a:t>Code Style &amp; Formatting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377440"/>
            <a:ext cx="356616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404872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  Intermediate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926080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900" b="1">
                <a:solidFill>
                  <a:srgbClr val="F59E0B"/>
                </a:solidFill>
                <a:latin typeface="JetBrains Mono"/>
              </a:defRPr>
            </a:pPr>
            <a:r>
              <a:t>#1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2608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1100" b="0">
                <a:solidFill>
                  <a:srgbClr val="E8ECF4"/>
                </a:solidFill>
                <a:latin typeface="Inter"/>
              </a:defRPr>
            </a:pPr>
            <a:r>
              <a:t>DSL Frontend Enhancer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182112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900" b="1">
                <a:solidFill>
                  <a:srgbClr val="F59E0B"/>
                </a:solidFill>
                <a:latin typeface="JetBrains Mono"/>
              </a:defRPr>
            </a:pPr>
            <a:r>
              <a:t>#6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182112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1100" b="0">
                <a:solidFill>
                  <a:srgbClr val="E8ECF4"/>
                </a:solidFill>
                <a:latin typeface="Inter"/>
              </a:defRPr>
            </a:pPr>
            <a:r>
              <a:t>Compiler Performance Bench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438144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900" b="1">
                <a:solidFill>
                  <a:srgbClr val="F59E0B"/>
                </a:solidFill>
                <a:latin typeface="JetBrains Mono"/>
              </a:defRPr>
            </a:pPr>
            <a:r>
              <a:t>#9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438144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1100" b="0">
                <a:solidFill>
                  <a:srgbClr val="E8ECF4"/>
                </a:solidFill>
                <a:latin typeface="Inter"/>
              </a:defRPr>
            </a:pPr>
            <a:r>
              <a:t>DSL Error Message Beautifier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694176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900" b="1">
                <a:solidFill>
                  <a:srgbClr val="F59E0B"/>
                </a:solidFill>
                <a:latin typeface="JetBrains Mono"/>
              </a:defRPr>
            </a:pPr>
            <a:r>
              <a:t>#21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694176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1100" b="0">
                <a:solidFill>
                  <a:srgbClr val="E8ECF4"/>
                </a:solidFill>
                <a:latin typeface="Inter"/>
              </a:defRPr>
            </a:pPr>
            <a:r>
              <a:t>IR Verifier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950208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900" b="1">
                <a:solidFill>
                  <a:srgbClr val="F59E0B"/>
                </a:solidFill>
                <a:latin typeface="JetBrains Mono"/>
              </a:defRPr>
            </a:pPr>
            <a:r>
              <a:t>#28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950208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1100" b="0">
                <a:solidFill>
                  <a:srgbClr val="E8ECF4"/>
                </a:solidFill>
                <a:latin typeface="Inter"/>
              </a:defRPr>
            </a:pPr>
            <a:r>
              <a:t>Backend Instr. Selection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2377440"/>
            <a:ext cx="356616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2404872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  Advanced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926080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900" b="1">
                <a:solidFill>
                  <a:srgbClr val="EF4444"/>
                </a:solidFill>
                <a:latin typeface="JetBrains Mono"/>
              </a:defRPr>
            </a:pPr>
            <a:r>
              <a:t>#11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292608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1100" b="0">
                <a:solidFill>
                  <a:srgbClr val="E8ECF4"/>
                </a:solidFill>
                <a:latin typeface="Inter"/>
              </a:defRPr>
            </a:pPr>
            <a:r>
              <a:t>CFG Generator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182112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900" b="1">
                <a:solidFill>
                  <a:srgbClr val="EF4444"/>
                </a:solidFill>
                <a:latin typeface="JetBrains Mono"/>
              </a:defRPr>
            </a:pPr>
            <a:r>
              <a:t>#12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3182112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1100" b="0">
                <a:solidFill>
                  <a:srgbClr val="E8ECF4"/>
                </a:solidFill>
                <a:latin typeface="Inter"/>
              </a:defRPr>
            </a:pPr>
            <a:r>
              <a:t>RISC-V Instr. Counter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438144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900" b="1">
                <a:solidFill>
                  <a:srgbClr val="EF4444"/>
                </a:solidFill>
                <a:latin typeface="JetBrains Mono"/>
              </a:defRPr>
            </a:pPr>
            <a:r>
              <a:t>#17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3438144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1100" b="0">
                <a:solidFill>
                  <a:srgbClr val="E8ECF4"/>
                </a:solidFill>
                <a:latin typeface="Inter"/>
              </a:defRPr>
            </a:pPr>
            <a:r>
              <a:t>Register Allocator (L.Scan)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694176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900" b="1">
                <a:solidFill>
                  <a:srgbClr val="EF4444"/>
                </a:solidFill>
                <a:latin typeface="JetBrains Mono"/>
              </a:defRPr>
            </a:pPr>
            <a:r>
              <a:t>#18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3694176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  <a:defRPr sz="1100" b="0">
                <a:solidFill>
                  <a:srgbClr val="E8ECF4"/>
                </a:solidFill>
                <a:latin typeface="Inter"/>
              </a:defRPr>
            </a:pPr>
            <a:r>
              <a:t>Instr. Scheduler (L.List)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2377440"/>
            <a:ext cx="9144" cy="3840480"/>
          </a:xfrm>
          <a:prstGeom prst="rect">
            <a:avLst/>
          </a:prstGeom>
          <a:solidFill>
            <a:srgbClr val="25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55279" y="2377440"/>
            <a:ext cx="9144" cy="3840480"/>
          </a:xfrm>
          <a:prstGeom prst="rect">
            <a:avLst/>
          </a:prstGeom>
          <a:solidFill>
            <a:srgbClr val="25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Inter"/>
              </a:defRPr>
            </a:pPr>
            <a:r>
              <a:t>07  / 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  <a:defRPr sz="1400" b="1">
                <a:solidFill>
                  <a:srgbClr val="2DD4BF"/>
                </a:solidFill>
                <a:latin typeface="JetBrains Mono"/>
              </a:defRPr>
            </a:pPr>
            <a:r>
              <a:t>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3600" b="1">
                <a:solidFill>
                  <a:srgbClr val="E8ECF4"/>
                </a:solidFill>
                <a:latin typeface="Inter"/>
              </a:defRPr>
            </a:pPr>
            <a:r>
              <a:t>Beginner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600" b="0">
                <a:solidFill>
                  <a:srgbClr val="94A3B8"/>
                </a:solidFill>
                <a:latin typeface="Inter"/>
              </a:defRPr>
            </a:pPr>
            <a:r>
              <a:t>Perfect for getting started — quick wins, real contributions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3566160" cy="155448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640080" cy="228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Beginner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6974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#5  RISC-V Assembly Beautifier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Format assembly output, add readability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560320"/>
            <a:ext cx="3566160" cy="155448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2743200"/>
            <a:ext cx="640080" cy="228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Beginner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6974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#7  Compiler Log Enhancer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5468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Structured logging with levels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560320"/>
            <a:ext cx="3566160" cy="155448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2743200"/>
            <a:ext cx="640080" cy="228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Beginner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6974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#13  Peephole Optimizer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15468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Replace redundant instruction patterns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3566160" cy="155448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4572000"/>
            <a:ext cx="640080" cy="228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Beginner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262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#14  Const Load Merging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8348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Merge duplicate constant loads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389120"/>
            <a:ext cx="3566160" cy="155448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80560" y="4572000"/>
            <a:ext cx="640080" cy="228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Beginner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5262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400" b="1">
                <a:solidFill>
                  <a:srgbClr val="10B981"/>
                </a:solidFill>
                <a:latin typeface="Inter"/>
              </a:defRPr>
            </a:pPr>
            <a:r>
              <a:t>#20  Code Style &amp; Formatting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98348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Unified code style &amp; linter config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Inter"/>
              </a:defRPr>
            </a:pPr>
            <a:r>
              <a:t>08  / 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  <a:defRPr sz="1400" b="1">
                <a:solidFill>
                  <a:srgbClr val="2DD4BF"/>
                </a:solidFill>
                <a:latin typeface="JetBrains Mono"/>
              </a:defRPr>
            </a:pPr>
            <a:r>
              <a:t>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3600" b="1">
                <a:solidFill>
                  <a:srgbClr val="E8ECF4"/>
                </a:solidFill>
                <a:latin typeface="Inter"/>
              </a:defRPr>
            </a:pPr>
            <a:r>
              <a:t>Intermediate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600" b="0">
                <a:solidFill>
                  <a:srgbClr val="94A3B8"/>
                </a:solidFill>
                <a:latin typeface="Inter"/>
              </a:defRPr>
            </a:pPr>
            <a:r>
              <a:t>Dig deeper into the compiler 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3566160" cy="155448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777240" cy="228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Intermediate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974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Inter"/>
              </a:defRPr>
            </a:pPr>
            <a:r>
              <a:t>#1  DSL Frontend Enhancer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Extend DSL syntax, support more operators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560320"/>
            <a:ext cx="3566160" cy="155448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2743200"/>
            <a:ext cx="777240" cy="228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Intermediate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6974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Inter"/>
              </a:defRPr>
            </a:pPr>
            <a:r>
              <a:t>#6  Compiler Performance Bench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5468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Automated benchmark &amp;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560320"/>
            <a:ext cx="3566160" cy="155448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2743200"/>
            <a:ext cx="777240" cy="228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Intermediate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6974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Inter"/>
              </a:defRPr>
            </a:pPr>
            <a:r>
              <a:t>#9  DSL Error Message Beautifier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15468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Friendly error display &amp; location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3566160" cy="155448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4572000"/>
            <a:ext cx="777240" cy="228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Intermediate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5262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Inter"/>
              </a:defRPr>
            </a:pPr>
            <a:r>
              <a:t>#21  IR Verifier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8348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Validate IR legality &amp; data 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389120"/>
            <a:ext cx="3566160" cy="155448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80560" y="4572000"/>
            <a:ext cx="777240" cy="228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Intermediate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45262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Inter"/>
              </a:defRPr>
            </a:pPr>
            <a:r>
              <a:t>#28  Backend Instr. Selection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98348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Expand RISC-V instruction mapping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Inter"/>
              </a:defRPr>
            </a:pPr>
            <a:r>
              <a:t>09  / 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  <a:defRPr sz="1400" b="1">
                <a:solidFill>
                  <a:srgbClr val="2DD4BF"/>
                </a:solidFill>
                <a:latin typeface="JetBrains Mono"/>
              </a:defRPr>
            </a:pPr>
            <a:r>
              <a:t>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3600" b="1">
                <a:solidFill>
                  <a:srgbClr val="E8ECF4"/>
                </a:solidFill>
                <a:latin typeface="Inter"/>
              </a:defRPr>
            </a:pPr>
            <a:r>
              <a:t>Advanced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600" b="0">
                <a:solidFill>
                  <a:srgbClr val="94A3B8"/>
                </a:solidFill>
                <a:latin typeface="Inter"/>
              </a:defRPr>
            </a:pPr>
            <a:r>
              <a:t>Graduate-level compiler techniques, real algorithmic depth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2651760" cy="29260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640080" cy="2286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Advanced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1600" b="1">
                <a:solidFill>
                  <a:srgbClr val="EF4444"/>
                </a:solidFill>
                <a:latin typeface="Inter"/>
              </a:defRPr>
            </a:pPr>
            <a:r>
              <a:t>#11</a:t>
            </a:r>
            <a:br/>
            <a:r>
              <a:t>CFG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22860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Build basic blocks, visualize CFG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000" b="0">
                <a:solidFill>
                  <a:srgbClr val="94A3B8"/>
                </a:solidFill>
                <a:latin typeface="Inter"/>
              </a:defRPr>
            </a:pPr>
            <a:r>
              <a:t>👨‍🏫  Mentor-guided throughout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560320"/>
            <a:ext cx="2651760" cy="29260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2743200"/>
            <a:ext cx="640080" cy="2286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Advanced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10896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1600" b="1">
                <a:solidFill>
                  <a:srgbClr val="EF4444"/>
                </a:solidFill>
                <a:latin typeface="Inter"/>
              </a:defRPr>
            </a:pPr>
            <a:r>
              <a:t>#12</a:t>
            </a:r>
            <a:br/>
            <a:r>
              <a:t>RISC-V Instr. Counter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840480"/>
            <a:ext cx="22860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Count &amp; analyze instruction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51206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000" b="0">
                <a:solidFill>
                  <a:srgbClr val="94A3B8"/>
                </a:solidFill>
                <a:latin typeface="Inter"/>
              </a:defRPr>
            </a:pPr>
            <a:r>
              <a:t>👨‍🏫  Mentor-guided throughout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560320"/>
            <a:ext cx="2651760" cy="29260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2743200"/>
            <a:ext cx="640080" cy="2286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Advanced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10896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1600" b="1">
                <a:solidFill>
                  <a:srgbClr val="EF4444"/>
                </a:solidFill>
                <a:latin typeface="Inter"/>
              </a:defRPr>
            </a:pPr>
            <a:r>
              <a:t>#17</a:t>
            </a:r>
            <a:br/>
            <a:r>
              <a:t>Register Allocator (L.Scan)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40480"/>
            <a:ext cx="22860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Linear scan register allocation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1206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000" b="0">
                <a:solidFill>
                  <a:srgbClr val="94A3B8"/>
                </a:solidFill>
                <a:latin typeface="Inter"/>
              </a:defRPr>
            </a:pPr>
            <a:r>
              <a:t>👨‍🏫  Mentor-guided throughout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560320"/>
            <a:ext cx="2651760" cy="29260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18320" y="2743200"/>
            <a:ext cx="640080" cy="2286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Advanced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10896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1600" b="1">
                <a:solidFill>
                  <a:srgbClr val="EF4444"/>
                </a:solidFill>
                <a:latin typeface="Inter"/>
              </a:defRPr>
            </a:pPr>
            <a:r>
              <a:t>#18</a:t>
            </a:r>
            <a:br/>
            <a:r>
              <a:t>Instr. Scheduler (L.List)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840480"/>
            <a:ext cx="22860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Dependency analysis &amp; rescheduling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51206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000" b="0">
                <a:solidFill>
                  <a:srgbClr val="94A3B8"/>
                </a:solidFill>
                <a:latin typeface="Inter"/>
              </a:defRPr>
            </a:pPr>
            <a:r>
              <a:t>👨‍🏫  Mentor-guided throughout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Inter"/>
              </a:defRPr>
            </a:pPr>
            <a:r>
              <a:t>10  / 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  <a:defRPr sz="1400" b="1">
                <a:solidFill>
                  <a:srgbClr val="2DD4BF"/>
                </a:solidFill>
                <a:latin typeface="JetBrains Mono"/>
              </a:defRPr>
            </a:pPr>
            <a:r>
              <a:t>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3600" b="1">
                <a:solidFill>
                  <a:srgbClr val="E8ECF4"/>
                </a:solidFill>
                <a:latin typeface="Inter"/>
              </a:defRPr>
            </a:pPr>
            <a:r>
              <a:t>Who Is This For?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600" b="0">
                <a:solidFill>
                  <a:srgbClr val="94A3B8"/>
                </a:solidFill>
                <a:latin typeface="Inter"/>
              </a:defRPr>
            </a:pPr>
            <a:r>
              <a:t>No compiler background? No problem.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515600" cy="640080"/>
          </a:xfrm>
          <a:prstGeom prst="roundRect">
            <a:avLst/>
          </a:prstGeom>
          <a:solidFill>
            <a:srgbClr val="12182A"/>
          </a:solidFill>
          <a:ln w="381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2000" b="0">
                <a:solidFill>
                  <a:srgbClr val="FFFFFF"/>
                </a:solidFill>
                <a:latin typeface="Inter"/>
              </a:defRPr>
            </a:pPr>
            <a:r>
              <a:t>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359152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400" b="1">
                <a:solidFill>
                  <a:srgbClr val="FFFFFF"/>
                </a:solidFill>
                <a:latin typeface="Inter"/>
              </a:defRPr>
            </a:pPr>
            <a:r>
              <a:t>Undergrads &amp; self-taught programmers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33472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Sophomore to junior year, or equivalent self-study level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10515600" cy="640080"/>
          </a:xfrm>
          <a:prstGeom prst="roundRect">
            <a:avLst/>
          </a:prstGeom>
          <a:solidFill>
            <a:srgbClr val="12182A"/>
          </a:solidFill>
          <a:ln w="381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2000" b="0">
                <a:solidFill>
                  <a:srgbClr val="FFFFFF"/>
                </a:solidFill>
                <a:latin typeface="Inter"/>
              </a:defRPr>
            </a:pPr>
            <a:r>
              <a:t>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136392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400" b="1">
                <a:solidFill>
                  <a:srgbClr val="FFFFFF"/>
                </a:solidFill>
                <a:latin typeface="Inter"/>
              </a:defRPr>
            </a:pPr>
            <a:r>
              <a:t>Basic programming in Python or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410712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Loops, arrays, functions — that’s enough to start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10515600" cy="640080"/>
          </a:xfrm>
          <a:prstGeom prst="roundRect">
            <a:avLst/>
          </a:prstGeom>
          <a:solidFill>
            <a:srgbClr val="12182A"/>
          </a:solidFill>
          <a:ln w="381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2000" b="0">
                <a:solidFill>
                  <a:srgbClr val="FFFFFF"/>
                </a:solidFill>
                <a:latin typeface="Inter"/>
              </a:defRPr>
            </a:pPr>
            <a:r>
              <a:t>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913632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400" b="1">
                <a:solidFill>
                  <a:srgbClr val="FFFFFF"/>
                </a:solidFill>
                <a:latin typeface="Inter"/>
              </a:defRPr>
            </a:pPr>
            <a:r>
              <a:t>Curious about how computers really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187952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You wonder what happens between print() and the CPU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17720"/>
            <a:ext cx="10515600" cy="640080"/>
          </a:xfrm>
          <a:prstGeom prst="roundRect">
            <a:avLst/>
          </a:prstGeom>
          <a:solidFill>
            <a:srgbClr val="12182A"/>
          </a:solidFill>
          <a:ln w="381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2000" b="0">
                <a:solidFill>
                  <a:srgbClr val="FFFFFF"/>
                </a:solidFill>
                <a:latin typeface="Inter"/>
              </a:defRPr>
            </a:pPr>
            <a:r>
              <a:t>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690872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400" b="1">
                <a:solidFill>
                  <a:srgbClr val="FFFFFF"/>
                </a:solidFill>
                <a:latin typeface="Inter"/>
              </a:defRPr>
            </a:pPr>
            <a:r>
              <a:t>Willing to write code and make mistakes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965192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Bugs are learning opportunities, not failures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94960"/>
            <a:ext cx="10515600" cy="640080"/>
          </a:xfrm>
          <a:prstGeom prst="roundRect">
            <a:avLst/>
          </a:prstGeom>
          <a:solidFill>
            <a:srgbClr val="12182A"/>
          </a:solidFill>
          <a:ln w="381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48640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2000" b="0">
                <a:solidFill>
                  <a:srgbClr val="FFFFFF"/>
                </a:solidFill>
                <a:latin typeface="Inter"/>
              </a:defRPr>
            </a:pPr>
            <a:r>
              <a:t>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468112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400" b="1">
                <a:solidFill>
                  <a:srgbClr val="FFFFFF"/>
                </a:solidFill>
                <a:latin typeface="Inter"/>
              </a:defRPr>
            </a:pPr>
            <a:r>
              <a:t>Can commit 8–10 hours per 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742432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Weekend binges or daily sprints — your 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You do NOT need: compiler theory · RISC-V knowledge · assembly experience · an FPGA 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Inter"/>
              </a:defRPr>
            </a:pPr>
            <a:r>
              <a:t>11  / 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  <a:defRPr sz="1400" b="1">
                <a:solidFill>
                  <a:srgbClr val="2DD4BF"/>
                </a:solidFill>
                <a:latin typeface="JetBrains Mono"/>
              </a:defRPr>
            </a:pPr>
            <a:r>
              <a:t>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3600" b="1">
                <a:solidFill>
                  <a:srgbClr val="E8ECF4"/>
                </a:solidFill>
                <a:latin typeface="Inter"/>
              </a:defRPr>
            </a:pPr>
            <a:r>
              <a:t>Timeline &amp;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600" b="0">
                <a:solidFill>
                  <a:srgbClr val="94A3B8"/>
                </a:solidFill>
                <a:latin typeface="Inter"/>
              </a:defRPr>
            </a:pPr>
            <a:r>
              <a:t>From kickoff to demo day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743200"/>
            <a:ext cx="320040" cy="3200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7320" y="2880360"/>
            <a:ext cx="1005840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300" b="1">
                <a:solidFill>
                  <a:srgbClr val="2DD4BF"/>
                </a:solidFill>
                <a:latin typeface="JetBrains Mono"/>
              </a:defRPr>
            </a:pPr>
            <a: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300"/>
              </a:spcAft>
              <a:defRPr sz="1100" b="0">
                <a:solidFill>
                  <a:srgbClr val="94A3B8"/>
                </a:solidFill>
                <a:latin typeface="Inter"/>
              </a:defRPr>
            </a:pPr>
            <a:r>
              <a:t>Registration Open</a:t>
            </a:r>
          </a:p>
        </p:txBody>
      </p:sp>
      <p:sp>
        <p:nvSpPr>
          <p:cNvPr id="10" name="Oval 9"/>
          <p:cNvSpPr/>
          <p:nvPr/>
        </p:nvSpPr>
        <p:spPr>
          <a:xfrm>
            <a:off x="3063240" y="2743200"/>
            <a:ext cx="320040" cy="320040"/>
          </a:xfrm>
          <a:prstGeom prst="ellipse">
            <a:avLst/>
          </a:prstGeom>
          <a:solidFill>
            <a:srgbClr val="14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2880360"/>
            <a:ext cx="1005840" cy="36576"/>
          </a:xfrm>
          <a:prstGeom prst="rect">
            <a:avLst/>
          </a:prstGeom>
          <a:solidFill>
            <a:srgbClr val="14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200400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300" b="1">
                <a:solidFill>
                  <a:srgbClr val="148A7A"/>
                </a:solidFill>
                <a:latin typeface="JetBrains Mono"/>
              </a:defRPr>
            </a:pPr>
            <a:r>
              <a:t>Jun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5204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300"/>
              </a:spcAft>
              <a:defRPr sz="1100" b="0">
                <a:solidFill>
                  <a:srgbClr val="94A3B8"/>
                </a:solidFill>
                <a:latin typeface="Inter"/>
              </a:defRPr>
            </a:pPr>
            <a:r>
              <a:t>Info Session &amp;</a:t>
            </a:r>
            <a:br/>
            <a:r>
              <a:t>Registration Close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0" y="2743200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49240" y="2880360"/>
            <a:ext cx="100584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200400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300" b="1">
                <a:solidFill>
                  <a:srgbClr val="8B5CF6"/>
                </a:solidFill>
                <a:latin typeface="JetBrains Mono"/>
              </a:defRPr>
            </a:pPr>
            <a:r>
              <a:t>Jul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5204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300"/>
              </a:spcAft>
              <a:defRPr sz="1100" b="0">
                <a:solidFill>
                  <a:srgbClr val="94A3B8"/>
                </a:solidFill>
                <a:latin typeface="Inter"/>
              </a:defRPr>
            </a:pPr>
            <a:r>
              <a:t>Project Kickoff</a:t>
            </a:r>
            <a:br/>
            <a:r>
              <a:t>Week 1 Launch</a:t>
            </a:r>
          </a:p>
        </p:txBody>
      </p:sp>
      <p:sp>
        <p:nvSpPr>
          <p:cNvPr id="18" name="Oval 17"/>
          <p:cNvSpPr/>
          <p:nvPr/>
        </p:nvSpPr>
        <p:spPr>
          <a:xfrm>
            <a:off x="6995159" y="2743200"/>
            <a:ext cx="320040" cy="320040"/>
          </a:xfrm>
          <a:prstGeom prst="ellipse">
            <a:avLst/>
          </a:prstGeom>
          <a:solidFill>
            <a:srgbClr val="6D3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199" y="2880360"/>
            <a:ext cx="1005840" cy="36576"/>
          </a:xfrm>
          <a:prstGeom prst="rect">
            <a:avLst/>
          </a:prstGeom>
          <a:solidFill>
            <a:srgbClr val="6D3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79" y="3200400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300" b="1">
                <a:solidFill>
                  <a:srgbClr val="6D3AD6"/>
                </a:solidFill>
                <a:latin typeface="JetBrains Mono"/>
              </a:defRPr>
            </a:pPr>
            <a:r>
              <a:t>Aug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35204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300"/>
              </a:spcAft>
              <a:defRPr sz="1100" b="0">
                <a:solidFill>
                  <a:srgbClr val="94A3B8"/>
                </a:solidFill>
                <a:latin typeface="Inter"/>
              </a:defRPr>
            </a:pPr>
            <a:r>
              <a:t>Phase 1</a:t>
            </a:r>
            <a:br/>
            <a:r>
              <a:t>Checkpoint</a:t>
            </a:r>
          </a:p>
        </p:txBody>
      </p:sp>
      <p:sp>
        <p:nvSpPr>
          <p:cNvPr id="22" name="Oval 21"/>
          <p:cNvSpPr/>
          <p:nvPr/>
        </p:nvSpPr>
        <p:spPr>
          <a:xfrm>
            <a:off x="8961120" y="274320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60" y="2880360"/>
            <a:ext cx="10058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200400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300" b="1">
                <a:solidFill>
                  <a:srgbClr val="F59E0B"/>
                </a:solidFill>
                <a:latin typeface="JetBrains Mono"/>
              </a:defRPr>
            </a:pPr>
            <a:r>
              <a:t>Aug 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5204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300"/>
              </a:spcAft>
              <a:defRPr sz="1100" b="0">
                <a:solidFill>
                  <a:srgbClr val="94A3B8"/>
                </a:solidFill>
                <a:latin typeface="Inter"/>
              </a:defRPr>
            </a:pPr>
            <a:r>
              <a:t>Phase 2</a:t>
            </a:r>
            <a:br/>
            <a:r>
              <a:t>Checkpoint</a:t>
            </a:r>
          </a:p>
        </p:txBody>
      </p:sp>
      <p:sp>
        <p:nvSpPr>
          <p:cNvPr id="26" name="Oval 25"/>
          <p:cNvSpPr/>
          <p:nvPr/>
        </p:nvSpPr>
        <p:spPr>
          <a:xfrm>
            <a:off x="10927080" y="2743200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87000" y="3200400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300" b="1">
                <a:solidFill>
                  <a:srgbClr val="EF4444"/>
                </a:solidFill>
                <a:latin typeface="JetBrains Mono"/>
              </a:defRPr>
            </a:pPr>
            <a:r>
              <a:t>Sep 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35204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300"/>
              </a:spcAft>
              <a:defRPr sz="1100" b="0">
                <a:solidFill>
                  <a:srgbClr val="94A3B8"/>
                </a:solidFill>
                <a:latin typeface="Inter"/>
              </a:defRPr>
            </a:pPr>
            <a:r>
              <a:t>Final Demo &amp;</a:t>
            </a:r>
            <a:br/>
            <a:r>
              <a:t>Wrap-up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400" b="0">
                <a:solidFill>
                  <a:srgbClr val="2DD4BF"/>
                </a:solidFill>
                <a:latin typeface="Inter"/>
              </a:defRPr>
            </a:pPr>
            <a:r>
              <a:t>🕒  8–10 hours/week  ·  Weekly mentor sessions  ·  Async support on Discord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Inter"/>
              </a:defRPr>
            </a:pPr>
            <a:r>
              <a:t>12  / 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  <a:defRPr sz="1400" b="1">
                <a:solidFill>
                  <a:srgbClr val="2DD4BF"/>
                </a:solidFill>
                <a:latin typeface="JetBrains Mono"/>
              </a:defRPr>
            </a:pPr>
            <a:r>
              <a:t>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3600" b="1">
                <a:solidFill>
                  <a:srgbClr val="E8ECF4"/>
                </a:solidFill>
                <a:latin typeface="Inter"/>
              </a:defRPr>
            </a:pPr>
            <a:r>
              <a:t>FAQ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600" b="0">
                <a:solidFill>
                  <a:srgbClr val="94A3B8"/>
                </a:solidFill>
                <a:latin typeface="Inter"/>
              </a:defRPr>
            </a:pPr>
            <a:r>
              <a:t>Common questions answered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51560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Q:  I’ve never heard of ONNX. Can I still join?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A:  Absolutely. Week 1 walks through a complete example. Think of ONNX as a “file format for models” — we’ll teach you everything.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1051560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Q:  I haven’t taken a compilers course. Will I be lost?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A:  Not at all. We use intuitive analogies (compiler as “translator”) and learn by doing, not by theory. You’ll build understanding from the ground up.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97680"/>
            <a:ext cx="1051560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Q:  Do I need a RISC-V development board?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A:  No. Everything runs on the tinyfive software simulator on your laptop. Zero hardware required.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303520"/>
            <a:ext cx="1051560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4924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Q:  What if I fall behind?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06440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A:  Every phase has a checkpoint with buffer time. Mentors check in proactively. You can focus on the core path and skip optional optimizations.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Inter"/>
              </a:defRPr>
            </a:pPr>
            <a:r>
              <a:t>13  / 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  <a:defRPr sz="1400" b="1">
                <a:solidFill>
                  <a:srgbClr val="2DD4BF"/>
                </a:solidFill>
                <a:latin typeface="JetBrains Mono"/>
              </a:defRPr>
            </a:pPr>
            <a:r>
              <a:t>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3600" b="1">
                <a:solidFill>
                  <a:srgbClr val="E8ECF4"/>
                </a:solidFill>
                <a:latin typeface="Inter"/>
              </a:defRPr>
            </a:pPr>
            <a:r>
              <a:t>Community &amp; Mentorship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600" b="0">
                <a:solidFill>
                  <a:srgbClr val="94A3B8"/>
                </a:solidFill>
                <a:latin typeface="Inter"/>
              </a:defRPr>
            </a:pPr>
            <a:r>
              <a:t>You won’t be doing this alone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2651760" cy="274320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2800" b="0">
                <a:solidFill>
                  <a:srgbClr val="FFFFFF"/>
                </a:solidFill>
                <a:latin typeface="Inter"/>
              </a:defRPr>
            </a:pPr>
            <a:r>
              <a:t>👨‍🏫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600" b="1">
                <a:solidFill>
                  <a:srgbClr val="2DD4BF"/>
                </a:solidFill>
                <a:latin typeface="Inter"/>
              </a:defRPr>
            </a:pPr>
            <a:r>
              <a:t>Weekly Mentor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Live deep-dives every week.</a:t>
            </a:r>
            <a:br/>
            <a:r>
              <a:t>Q&amp;A, code reviews, and</a:t>
            </a:r>
            <a:br/>
            <a:r>
              <a:t>discussion of tricky concepts.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560320"/>
            <a:ext cx="2651760" cy="274320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83464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2800" b="0">
                <a:solidFill>
                  <a:srgbClr val="FFFFFF"/>
                </a:solidFill>
                <a:latin typeface="Inter"/>
              </a:defRPr>
            </a:pPr>
            <a:r>
              <a:t>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3832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600" b="1">
                <a:solidFill>
                  <a:srgbClr val="2DD4BF"/>
                </a:solidFill>
                <a:latin typeface="Inter"/>
              </a:defRPr>
            </a:pPr>
            <a:r>
              <a:t>Peer Code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84048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Review each other’s code.</a:t>
            </a:r>
            <a:br/>
            <a:r>
              <a:t>Catch bugs together.</a:t>
            </a:r>
            <a:br/>
            <a:r>
              <a:t>Learn by explaining your choices.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560320"/>
            <a:ext cx="2651760" cy="274320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83464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2800" b="0">
                <a:solidFill>
                  <a:srgbClr val="FFFFFF"/>
                </a:solidFill>
                <a:latin typeface="Inter"/>
              </a:defRPr>
            </a:pPr>
            <a: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832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600" b="1">
                <a:solidFill>
                  <a:srgbClr val="2DD4BF"/>
                </a:solidFill>
                <a:latin typeface="Inter"/>
              </a:defRPr>
            </a:pPr>
            <a:r>
              <a:t>Always-On Community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84048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Discord / WeChat group.</a:t>
            </a:r>
            <a:br/>
            <a:r>
              <a:t>Questions answered within hours.</a:t>
            </a:r>
            <a:br/>
            <a:r>
              <a:t>Share wins, debug together.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560320"/>
            <a:ext cx="2651760" cy="274320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83464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2800" b="0">
                <a:solidFill>
                  <a:srgbClr val="FFFFFF"/>
                </a:solidFill>
                <a:latin typeface="Inter"/>
              </a:defRPr>
            </a:pPr>
            <a: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3832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600" b="1">
                <a:solidFill>
                  <a:srgbClr val="2DD4BF"/>
                </a:solidFill>
                <a:latin typeface="Inter"/>
              </a:defRPr>
            </a:pPr>
            <a:r>
              <a:t>Milestone Celebrations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84048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Phase checkpoints with feedback.</a:t>
            </a:r>
            <a:br/>
            <a:r>
              <a:t>Final demo day with presentations.</a:t>
            </a:r>
            <a:br/>
            <a:r>
              <a:t>Your work becomes part of the project.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Inter"/>
              </a:defRPr>
            </a:pPr>
            <a:r>
              <a:t>14  / 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  <a:defRPr sz="1400" b="1">
                <a:solidFill>
                  <a:srgbClr val="2DD4BF"/>
                </a:solidFill>
                <a:latin typeface="JetBrains Mono"/>
              </a:defRPr>
            </a:pPr>
            <a:r>
              <a:t>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3600" b="1">
                <a:solidFill>
                  <a:srgbClr val="E8ECF4"/>
                </a:solidFill>
                <a:latin typeface="Inter"/>
              </a:defRPr>
            </a:pPr>
            <a:r>
              <a:t>How to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600" b="0">
                <a:solidFill>
                  <a:srgbClr val="94A3B8"/>
                </a:solidFill>
                <a:latin typeface="Inter"/>
              </a:defRPr>
            </a:pPr>
            <a:r>
              <a:t>Three steps to get started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3566160" cy="228600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2926080"/>
            <a:ext cx="640080" cy="64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4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800" b="1">
                <a:solidFill>
                  <a:srgbClr val="2DD4BF"/>
                </a:solidFill>
                <a:latin typeface="Inter"/>
              </a:defRPr>
            </a:pPr>
            <a:r>
              <a:t>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3017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Fill out the registration form</a:t>
            </a:r>
            <a:br/>
            <a:r>
              <a:t>by June 20th.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743200"/>
            <a:ext cx="3566160" cy="228600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0" y="292608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JetBrains Mono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74904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800" b="1">
                <a:solidFill>
                  <a:srgbClr val="8B5CF6"/>
                </a:solidFill>
                <a:latin typeface="Inter"/>
              </a:defRPr>
            </a:pPr>
            <a:r>
              <a:t>Attend Info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114800"/>
            <a:ext cx="3017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Join us online to pick your</a:t>
            </a:r>
            <a:br/>
            <a:r>
              <a:t>topic and meet your mentor.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743200"/>
            <a:ext cx="3566160" cy="228600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09760" y="292608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JetBrains Mono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74904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800" b="1">
                <a:solidFill>
                  <a:srgbClr val="F59E0B"/>
                </a:solidFill>
                <a:latin typeface="Inter"/>
              </a:defRPr>
            </a:pPr>
            <a:r>
              <a:t>Start Building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3017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Kickoff on July 10th.</a:t>
            </a:r>
            <a:br/>
            <a:r>
              <a:t>Your compiler journey begins.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8640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400" b="0">
                <a:solidFill>
                  <a:srgbClr val="2DD4BF"/>
                </a:solidFill>
                <a:latin typeface="Inter"/>
              </a:defRPr>
            </a:pPr>
            <a:r>
              <a:t>Registration: forms.gle/your-link  ·  Email: mentor@scratchv.dev  ·  QQ Group: xxxxxxxxx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Inter"/>
              </a:defRPr>
            </a:pPr>
            <a:r>
              <a:t>15  / 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  <a:defRPr sz="1400" b="1">
                <a:solidFill>
                  <a:srgbClr val="2DD4BF"/>
                </a:solidFill>
                <a:latin typeface="JetBrains Mono"/>
              </a:defRPr>
            </a:pPr>
            <a:r>
              <a:t>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3600" b="1">
                <a:solidFill>
                  <a:srgbClr val="E8ECF4"/>
                </a:solidFill>
                <a:latin typeface="Inter"/>
              </a:defRPr>
            </a:pPr>
            <a:r>
              <a:t>Open Source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600" b="0">
                <a:solidFill>
                  <a:srgbClr val="94A3B8"/>
                </a:solidFill>
                <a:latin typeface="Inter"/>
              </a:defRPr>
            </a:pPr>
            <a:r>
              <a:t>Built in the open, for everyone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2651760" cy="182880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📂  MIT Licensed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2286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Free to use, modify, and share.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560320"/>
            <a:ext cx="2651760" cy="182880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83464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🔀  GitHub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383280"/>
            <a:ext cx="2286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PRs, issues, discussions — standard OSS collaboration.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560320"/>
            <a:ext cx="2651760" cy="182880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83464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📝  Documentation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83280"/>
            <a:ext cx="2286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Tutorials, API docs, and architecture guides.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560320"/>
            <a:ext cx="2651760" cy="182880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283464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🌍  Community Driven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383280"/>
            <a:ext cx="2286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Your contributions help future learners worldwide.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54880"/>
            <a:ext cx="10515600" cy="1097280"/>
          </a:xfrm>
          <a:prstGeom prst="roundRect">
            <a:avLst/>
          </a:prstGeom>
          <a:solidFill>
            <a:srgbClr val="12182A"/>
          </a:solidFill>
          <a:ln w="381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400" b="0">
                <a:solidFill>
                  <a:srgbClr val="2DD4BF"/>
                </a:solidFill>
                <a:latin typeface="Inter"/>
              </a:defRPr>
            </a:pPr>
            <a:r>
              <a:t>💻  github.com/scratchv/scratchv-compiler    ·    ⭐  Star us on GitHub!    ·    🔄  Contributions welcome!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Inter"/>
              </a:defRPr>
            </a:pPr>
            <a:r>
              <a:t>16  / 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  <a:defRPr sz="1400" b="1">
                <a:solidFill>
                  <a:srgbClr val="2DD4BF"/>
                </a:solidFill>
                <a:latin typeface="JetBrains Mono"/>
              </a:defRPr>
            </a:pPr>
            <a:r>
              <a:t>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3600" b="1">
                <a:solidFill>
                  <a:srgbClr val="E8ECF4"/>
                </a:solidFill>
                <a:latin typeface="Inter"/>
              </a:defRPr>
            </a:pPr>
            <a:r>
              <a:t>Mentors &amp; Organizers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  <a:defRPr sz="1600" b="0">
                <a:solidFill>
                  <a:srgbClr val="94A3B8"/>
                </a:solidFill>
                <a:latin typeface="Inter"/>
              </a:defRPr>
            </a:pPr>
            <a:r>
              <a:t>Experienced engineers guiding your journey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3566160" cy="228600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45920" y="3017520"/>
            <a:ext cx="1097280" cy="1097280"/>
          </a:xfrm>
          <a:prstGeom prst="ellipse">
            <a:avLst/>
          </a:prstGeom>
          <a:solidFill>
            <a:srgbClr val="2DD4B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Inter"/>
              </a:defRPr>
            </a:pPr>
            <a:r>
              <a:t>[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500" b="1">
                <a:solidFill>
                  <a:srgbClr val="FFFFFF"/>
                </a:solidFill>
                <a:latin typeface="Inter"/>
              </a:defRPr>
            </a:pPr>
            <a:r>
              <a:t>[Your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19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Systems / Compilers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743200"/>
            <a:ext cx="3566160" cy="228600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0" y="3017520"/>
            <a:ext cx="1097280" cy="1097280"/>
          </a:xfrm>
          <a:prstGeom prst="ellipse">
            <a:avLst/>
          </a:prstGeom>
          <a:solidFill>
            <a:srgbClr val="8B5C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Inter"/>
              </a:defRPr>
            </a:pPr>
            <a:r>
              <a:t>[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29768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500" b="1">
                <a:solidFill>
                  <a:srgbClr val="FFFFFF"/>
                </a:solidFill>
                <a:latin typeface="Inter"/>
              </a:defRPr>
            </a:pPr>
            <a:r>
              <a:t>[Mentor Name]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617719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AI / ML Engineering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743200"/>
            <a:ext cx="3566160" cy="2286000"/>
          </a:xfrm>
          <a:prstGeom prst="roundRect">
            <a:avLst/>
          </a:prstGeom>
          <a:solidFill>
            <a:srgbClr val="12182A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0" y="3017520"/>
            <a:ext cx="1097280" cy="1097280"/>
          </a:xfrm>
          <a:prstGeom prst="ellipse">
            <a:avLst/>
          </a:prstGeom>
          <a:solidFill>
            <a:srgbClr val="F59E0B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Inter"/>
              </a:defRPr>
            </a:pPr>
            <a:r>
              <a:t>[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9768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500" b="1">
                <a:solidFill>
                  <a:srgbClr val="FFFFFF"/>
                </a:solidFill>
                <a:latin typeface="Inter"/>
              </a:defRPr>
            </a:pPr>
            <a:r>
              <a:t>[Mentor Name]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617719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RISC-V / Hardware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Inter"/>
              </a:defRPr>
            </a:pPr>
            <a:r>
              <a:t>17  / 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457200"/>
            <a:ext cx="4572000" cy="4572000"/>
          </a:xfrm>
          <a:prstGeom prst="ellipse">
            <a:avLst/>
          </a:prstGeom>
          <a:solidFill>
            <a:srgbClr val="2DD4B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5029200"/>
            <a:ext cx="3657600" cy="3657600"/>
          </a:xfrm>
          <a:prstGeom prst="ellipse">
            <a:avLst/>
          </a:prstGeom>
          <a:solidFill>
            <a:srgbClr val="8B5CF6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  <a:defRPr sz="4400" b="1">
                <a:solidFill>
                  <a:srgbClr val="FFFFFF"/>
                </a:solidFill>
                <a:latin typeface="Inter"/>
              </a:defRPr>
            </a:pPr>
            <a:r>
              <a:t>Your Compiler Journey</a:t>
            </a:r>
            <a:br/>
            <a:r>
              <a:t>Starts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  <a:defRPr sz="1800" b="0">
                <a:solidFill>
                  <a:srgbClr val="94A3B8"/>
                </a:solidFill>
                <a:latin typeface="Inter"/>
              </a:defRPr>
            </a:pPr>
            <a:r>
              <a:t>You don’t need to be great to start. You need to start to be great.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2743200" cy="54864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500" b="1">
                <a:solidFill>
                  <a:srgbClr val="FFFFFF"/>
                </a:solidFill>
                <a:latin typeface="Inter"/>
              </a:defRPr>
            </a:pPr>
            <a:r>
              <a:t>Register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100"/>
              </a:spcAft>
              <a:defRPr sz="900" b="0">
                <a:solidFill>
                  <a:srgbClr val="FFFFFF"/>
                </a:solidFill>
                <a:latin typeface="Inter"/>
              </a:defRPr>
            </a:pPr>
            <a:r>
              <a:t>forms.gle/your-link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4114800"/>
            <a:ext cx="2743200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416052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500" b="1">
                <a:solidFill>
                  <a:srgbClr val="FFFFFF"/>
                </a:solidFill>
                <a:latin typeface="Inter"/>
              </a:defRPr>
            </a:pPr>
            <a:r>
              <a:t>GitHub Repo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38912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100"/>
              </a:spcAft>
              <a:defRPr sz="900" b="0">
                <a:solidFill>
                  <a:srgbClr val="FFFFFF"/>
                </a:solidFill>
                <a:latin typeface="Inter"/>
              </a:defRPr>
            </a:pPr>
            <a:r>
              <a:t>github.com/scratchv/scratchv-compiler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Questions?  →  mentor@scratchv.dev  ·  QQ: xxxxxxxxx  ·  Discord: 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100" b="0">
                <a:solidFill>
                  <a:srgbClr val="94A3B8"/>
                </a:solidFill>
                <a:latin typeface="Inter"/>
              </a:defRPr>
            </a:pPr>
            <a:r>
              <a:t>#ScratchV  #Compiler  #RISC-V  #OpenSource  #LearnByBuilding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Inter"/>
              </a:defRPr>
            </a:pPr>
            <a:r>
              <a:t>18  / 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0"/>
            <a:ext cx="4572000" cy="4572000"/>
          </a:xfrm>
          <a:prstGeom prst="ellipse">
            <a:avLst/>
          </a:prstGeom>
          <a:solidFill>
            <a:srgbClr val="2DD4B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3657600"/>
            <a:ext cx="3657600" cy="3657600"/>
          </a:xfrm>
          <a:prstGeom prst="ellipse">
            <a:avLst/>
          </a:prstGeom>
          <a:solidFill>
            <a:srgbClr val="8B5CF6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148A7A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600"/>
              </a:spcAft>
              <a:defRPr sz="5600" b="1">
                <a:solidFill>
                  <a:srgbClr val="FFFFFF"/>
                </a:solidFill>
                <a:latin typeface="Inter"/>
              </a:defRPr>
            </a:pPr>
            <a:r>
              <a:t>Thank You</a:t>
            </a:r>
            <a:br/>
            <a:r>
              <a:t>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  <a:defRPr sz="2400" b="0">
                <a:solidFill>
                  <a:srgbClr val="2DD4BF"/>
                </a:solidFill>
                <a:latin typeface="Inter"/>
              </a:defRPr>
            </a:pPr>
            <a:r>
              <a:t>Let’s build something amazing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Q &amp;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github.com/scratchv/scratchv-compiler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  <a:defRPr sz="1000" b="0">
                <a:solidFill>
                  <a:srgbClr val="94A3B8"/>
                </a:solidFill>
                <a:latin typeface="Inter"/>
              </a:defRPr>
            </a:pPr>
            <a:r>
              <a:t>#ScratchV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  <a:defRPr sz="900" b="0">
                <a:solidFill>
                  <a:srgbClr val="94A3B8"/>
                </a:solidFill>
                <a:latin typeface="Inter"/>
              </a:defRPr>
            </a:pPr>
            <a:r>
              <a:t>19  / 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