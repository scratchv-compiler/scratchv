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457200"/>
            <a:ext cx="2286000" cy="2286000"/>
          </a:xfrm>
          <a:prstGeom prst="ellipse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1188720"/>
            <a:ext cx="2286000" cy="2286000"/>
          </a:xfrm>
          <a:prstGeom prst="ellipse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1920240"/>
            <a:ext cx="2286000" cy="2286000"/>
          </a:xfrm>
          <a:prstGeom prst="ellipse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914400"/>
            <a:ext cx="9144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🧭 探索「AI模型 → 芯片指令」的</a:t>
            </a:r>
            <a:br/>
            <a:r>
              <a:t>神奇之旅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0">
                <a:solidFill>
                  <a:srgbClr val="2E86AB"/>
                </a:solidFill>
                <a:latin typeface="Microsoft YaHei"/>
              </a:defRPr>
            </a:pPr>
            <a:r>
              <a:t>零基础友好的AI编译器开源项目 · 线上宣讲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AAAAAA"/>
                </a:solidFill>
                <a:latin typeface="Microsoft YaHei"/>
              </a:defRPr>
            </a:pPr>
            <a:r>
              <a:t>📅 2025年6月  |  🎯 三个月从零搭建你的第一个编译器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💡 不需要编译原理基础 · 不需要AI基础 · 只需要好奇心和耐心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2277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2E"/>
                </a:solidFill>
                <a:latin typeface="Microsoft YaHei"/>
              </a:defRPr>
            </a:pPr>
            <a:r>
              <a:t>📋 宣讲提纲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2880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项目概览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9456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我们要做什么？</a:t>
            </a:r>
          </a:p>
        </p:txBody>
      </p:sp>
      <p:sp>
        <p:nvSpPr>
          <p:cNvPr id="8" name="Oval 7"/>
          <p:cNvSpPr/>
          <p:nvPr/>
        </p:nvSpPr>
        <p:spPr>
          <a:xfrm>
            <a:off x="4572000" y="1920240"/>
            <a:ext cx="548640" cy="54864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82880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为什么值得参加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19456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你能收获什么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0" y="1920240"/>
            <a:ext cx="548640" cy="54864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三个月学习路线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19456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Phase 1→2→3 逐级进阶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206240"/>
            <a:ext cx="548640" cy="54864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11480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课题精选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48056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14个课题全方位解析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0" y="4206240"/>
            <a:ext cx="548640" cy="54864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11480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时间节点与适合人群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48056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关键里程碑 &amp; 报名要求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0" y="4206240"/>
            <a:ext cx="548640" cy="54864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11480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Q&amp;A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48056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常见疑问与报名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2277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2E"/>
                </a:solidFill>
                <a:latin typeface="Microsoft YaHei"/>
              </a:defRPr>
            </a:pPr>
            <a:r>
              <a:t>🤔 你有没有好奇过……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一些可能让你“心里痒痒”的问题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9260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你写的 Python 代码，</a:t>
            </a:r>
            <a:br/>
            <a:r>
              <a:t>电脑到底怎么“听懂”并执行？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29260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从高级语言到机器指令，</a:t>
            </a:r>
            <a:br/>
            <a:r>
              <a:t>中间经历了怎样的魔法？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103120"/>
            <a:ext cx="29260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那些炫酷的 AI 模型，</a:t>
            </a:r>
            <a:br/>
            <a:r>
              <a:t>最后怎么在小小的芯片上跑起来？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657600"/>
            <a:ext cx="29260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模型是数学公式，</a:t>
            </a:r>
            <a:br/>
            <a:r>
              <a:t>芯片只懂 0 和 1，</a:t>
            </a:r>
            <a:br/>
            <a:r>
              <a:t>谁来当翻译官？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82880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103120"/>
            <a:ext cx="29260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编译器——</a:t>
            </a:r>
            <a:br/>
            <a:r>
              <a:t>这个听起来很高深的东西，</a:t>
            </a:r>
            <a:br/>
            <a:r>
              <a:t>到底在做什么？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657600"/>
            <a:ext cx="29260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它不是一个黑盒，</a:t>
            </a:r>
            <a:br/>
            <a:r>
              <a:t>而是你可以亲手搭建的工具。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48640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006D77"/>
                </a:solidFill>
                <a:latin typeface="Microsoft YaHei"/>
              </a:defRPr>
            </a:pPr>
            <a:r>
              <a:t>—— 哪怕你只学过一点点编程，这个项目就是为你准备的 ——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2277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2E"/>
                </a:solidFill>
                <a:latin typeface="Microsoft YaHei"/>
              </a:defRPr>
            </a:pPr>
            <a:r>
              <a:t>📌 我们要做什么？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用三个月时间，从零搭建一个迷你AI编译器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747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006D77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9260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一个简单的 ONNX</a:t>
            </a:r>
            <a:br/>
            <a:r>
              <a:t>AI 模型文件</a:t>
            </a:r>
            <a:br/>
            <a:r>
              <a:t>（加法和乘法）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011680"/>
            <a:ext cx="34747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19456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2E86AB"/>
                </a:solidFill>
                <a:latin typeface="Microsoft YaHei"/>
              </a:defRPr>
            </a:pPr>
            <a:r>
              <a:t>⬇</a:t>
            </a:r>
            <a:br/>
            <a:r>
              <a:t>编译器核心</a:t>
            </a:r>
            <a:br/>
            <a:r>
              <a:t>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743200"/>
            <a:ext cx="29260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读懂模型</a:t>
            </a:r>
            <a:br/>
            <a:r>
              <a:t>→ 中间语言</a:t>
            </a:r>
            <a:br/>
            <a:r>
              <a:t>→ 优化</a:t>
            </a:r>
            <a:br/>
            <a:r>
              <a:t>→ 生成指令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011680"/>
            <a:ext cx="34747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19456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F5A623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743200"/>
            <a:ext cx="29260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RISC-V 汇编代码</a:t>
            </a:r>
            <a:br/>
            <a:r>
              <a:t>（add, load 等</a:t>
            </a:r>
            <a:br/>
            <a:r>
              <a:t>芯片指令）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2D2D2D"/>
                </a:solidFill>
                <a:latin typeface="Microsoft YaHei"/>
              </a:defRPr>
            </a:pPr>
            <a:r>
              <a:t>✅ 完全自主实现，不依赖 LLVM/MLIR 等巨型框架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16636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2D2D2D"/>
                </a:solidFill>
                <a:latin typeface="Microsoft YaHei"/>
              </a:defRPr>
            </a:pPr>
            <a:r>
              <a:t>✅ 放到模拟器 (tinyfive) 中运行验证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57784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2D2D2D"/>
                </a:solidFill>
                <a:latin typeface="Microsoft YaHei"/>
              </a:defRPr>
            </a:pPr>
            <a:r>
              <a:t>✅ 每一步都亲手写出来，真正搞懂原理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2277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2E"/>
                </a:solidFill>
                <a:latin typeface="Microsoft YaHei"/>
              </a:defRPr>
            </a:pPr>
            <a:r>
              <a:t>🔬 从模型到芯片的完整链路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编译器——AI 世界与芯片世界的桥梁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1737360" cy="2560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554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ONNX</a:t>
            </a:r>
            <a:br/>
            <a:r>
              <a:t>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554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CCDDFF"/>
                </a:solidFill>
                <a:latin typeface="Microsoft YaHei"/>
              </a:defRPr>
            </a:pPr>
            <a:r>
              <a:t>读取并解析</a:t>
            </a:r>
            <a:br/>
            <a:r>
              <a:t>AI 模型文件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94560" y="3383280"/>
            <a:ext cx="182880" cy="27432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77440" y="2286000"/>
            <a:ext cx="1737360" cy="256032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2560320"/>
            <a:ext cx="1554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IR</a:t>
            </a:r>
            <a:br/>
            <a:r>
              <a:t>中间表示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657600"/>
            <a:ext cx="1554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CCDDFF"/>
                </a:solidFill>
                <a:latin typeface="Microsoft YaHei"/>
              </a:defRPr>
            </a:pPr>
            <a:r>
              <a:t>翻译成自己</a:t>
            </a:r>
            <a:br/>
            <a:r>
              <a:t>定义的指令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14800" y="3383280"/>
            <a:ext cx="182880" cy="27432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2286000"/>
            <a:ext cx="1737360" cy="2560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560320"/>
            <a:ext cx="1554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优化器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657600"/>
            <a:ext cx="1554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CCDDFF"/>
                </a:solidFill>
                <a:latin typeface="Microsoft YaHei"/>
              </a:defRPr>
            </a:pPr>
            <a:r>
              <a:t>死代码消除</a:t>
            </a:r>
            <a:br/>
            <a:r>
              <a:t>常量折叠等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35040" y="3383280"/>
            <a:ext cx="182880" cy="27432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2286000"/>
            <a:ext cx="1737360" cy="256032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560320"/>
            <a:ext cx="1554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后端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657600"/>
            <a:ext cx="1554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CCDDFF"/>
                </a:solidFill>
                <a:latin typeface="Microsoft YaHei"/>
              </a:defRPr>
            </a:pPr>
            <a:r>
              <a:t>指令选择</a:t>
            </a:r>
            <a:br/>
            <a:r>
              <a:t>寄存器分配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955280" y="3383280"/>
            <a:ext cx="182880" cy="27432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38160" y="2286000"/>
            <a:ext cx="1737360" cy="2560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560320"/>
            <a:ext cx="1554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RISC-V</a:t>
            </a:r>
            <a:br/>
            <a:r>
              <a:t>汇编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657600"/>
            <a:ext cx="1554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CCDDFF"/>
                </a:solidFill>
                <a:latin typeface="Microsoft YaHei"/>
              </a:defRPr>
            </a:pPr>
            <a:r>
              <a:t>生成芯片</a:t>
            </a:r>
            <a:br/>
            <a:r>
              <a:t>可执行指令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875520" y="3383280"/>
            <a:ext cx="182880" cy="27432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58400" y="2286000"/>
            <a:ext cx="1737360" cy="256032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2560320"/>
            <a:ext cx="1554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模拟器</a:t>
            </a:r>
            <a:br/>
            <a:r>
              <a:t>tinyfive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3657600"/>
            <a:ext cx="1554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CCDDFF"/>
                </a:solidFill>
                <a:latin typeface="Microsoft YaHei"/>
              </a:defRPr>
            </a:pPr>
            <a:r>
              <a:t>运行验证</a:t>
            </a:r>
            <a:br/>
            <a:r>
              <a:t>输出结果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0352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💡 整个流程没有任何黑盒——从模型文件的第一行，到汇编指令的最后一行，都由你亲手构建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2277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2E"/>
                </a:solidFill>
                <a:latin typeface="Microsoft YaHei"/>
              </a:defRPr>
            </a:pPr>
            <a:r>
              <a:t>🔥 为什么值得你来试一试？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661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006D77"/>
                </a:solidFill>
                <a:latin typeface="Microsoft YaHei"/>
              </a:defRPr>
            </a:pPr>
            <a:r>
              <a:t>🧩 不需要大神基础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0175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学过一点 Python 或 C？够了。</a:t>
            </a:r>
            <a:br/>
            <a:r>
              <a:t>知道数组、函数、循环？完全够。</a:t>
            </a:r>
            <a:br/>
            <a:r>
              <a:t>两周带你入门 RISC-V，不需要预先掌握。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3017520" cy="45720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像搭积木一样，一块一块搭起来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5661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2E86AB"/>
                </a:solidFill>
                <a:latin typeface="Microsoft YaHei"/>
              </a:defRPr>
            </a:pPr>
            <a:r>
              <a:t>🛠️ 真正理解底层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30175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不再是只会 import torch 的调包侠。</a:t>
            </a:r>
            <a:br/>
            <a:r>
              <a:t>理解从数学模型到机器指令的完整链路。</a:t>
            </a:r>
            <a:br/>
            <a:r>
              <a:t>高性能计算、AI 芯片的核心能力。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5303520"/>
            <a:ext cx="301752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简历加分：独立实现AI→RISC-V完整编译器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5661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10312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5A623"/>
                </a:solidFill>
                <a:latin typeface="Microsoft YaHei"/>
              </a:defRPr>
            </a:pPr>
            <a:r>
              <a:t>👥 温暖的开源社区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743200"/>
            <a:ext cx="30175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每周线上答疑 + 讲解。</a:t>
            </a:r>
            <a:br/>
            <a:r>
              <a:t>Peer Review 代码，互相改 bug。</a:t>
            </a:r>
            <a:br/>
            <a:r>
              <a:t>一起庆祝每个里程碑的达成。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5303520"/>
            <a:ext cx="3017520" cy="45720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你的代码会成为开源项目的一部分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2277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2E"/>
                </a:solidFill>
                <a:latin typeface="Microsoft YaHei"/>
              </a:defRPr>
            </a:pPr>
            <a:r>
              <a:t>🗺️ 三个月学习路线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循序渐进的三阶段带飞计划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566160" cy="411480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Phase 1</a:t>
            </a:r>
            <a:br/>
            <a:r>
              <a:t>第 1~4 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EEEEFF"/>
                </a:solidFill>
                <a:latin typeface="Microsoft YaHei"/>
              </a:defRPr>
            </a:pPr>
            <a:r>
              <a:t>跑通完整链路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200400"/>
            <a:ext cx="32918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✓ 跑通别人写好的完整例子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✓ 看懂 模型→指令 的全过程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✓ 建立对编译器的整体认知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哇，原来是这样！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828800"/>
            <a:ext cx="3566160" cy="41148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Phase 2</a:t>
            </a:r>
            <a:br/>
            <a:r>
              <a:t>第 5~9 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5176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EEEEFF"/>
                </a:solidFill>
                <a:latin typeface="Microsoft YaHei"/>
              </a:defRPr>
            </a:pPr>
            <a:r>
              <a:t>亲手实现编译器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200400"/>
            <a:ext cx="32918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38328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✓ 把 ONNX 模型翻译成自己的 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93192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✓ 实现 RISC-V 后端生成汇编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48056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✓ 实现基础优化（常量折叠等）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39496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开始创造，成就感爆棚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828800"/>
            <a:ext cx="3566160" cy="411480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011680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Phase 3</a:t>
            </a:r>
            <a:br/>
            <a:r>
              <a:t>第 10~12 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5176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EEEEFF"/>
                </a:solidFill>
                <a:latin typeface="Microsoft YaHei"/>
              </a:defRPr>
            </a:pPr>
            <a:r>
              <a:t>优化与产出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200400"/>
            <a:ext cx="32918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338328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✓ 跑通更多模型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93192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✓ 指令更短、运行更快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48056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✓ 编写文档，完善项目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39496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我居然做出了一个编译器！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⏱ 每周只需 8~10 小时 · 提供预置框架和 benchmark · 每周线上答疑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2277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2E"/>
                </a:solidFill>
                <a:latin typeface="Microsoft YaHei"/>
              </a:defRPr>
            </a:pPr>
            <a:r>
              <a:t>📘 Phase 1 详解 —— 跑通完整链路 (第 1~4 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目标：建立整体认知，看懂「模型→指令」的魔法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1097280" cy="36576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第 1 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环境搭建与入门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26517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安装工具链</a:t>
            </a:r>
            <a:br/>
            <a:r>
              <a:t>跑通第一个示例</a:t>
            </a:r>
            <a:br/>
            <a:r>
              <a:t>认识 ONNX 模型格式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011680"/>
            <a:ext cx="1097280" cy="36576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第 2 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46888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RISC-V 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926080"/>
            <a:ext cx="26517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学习 RISC-V 指令集基础</a:t>
            </a:r>
            <a:br/>
            <a:r>
              <a:t>理解寄存器、内存模型</a:t>
            </a:r>
            <a:br/>
            <a:r>
              <a:t>运行 tinyfive 模拟器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11680"/>
            <a:ext cx="1097280" cy="36576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第 3 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46888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编译器工作流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926080"/>
            <a:ext cx="26517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理解 前端→IR→后端 三段式</a:t>
            </a:r>
            <a:br/>
            <a:r>
              <a:t>跟着代码走一遍完整流程</a:t>
            </a:r>
            <a:br/>
            <a:r>
              <a:t>读懂中间表示的每一步转换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011680"/>
            <a:ext cx="1097280" cy="36576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第 4 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468880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回顾与 checkpoint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926080"/>
            <a:ext cx="265176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关键成果验收</a:t>
            </a:r>
            <a:br/>
            <a:r>
              <a:t>确保每个人都能讲清</a:t>
            </a:r>
            <a:br/>
            <a:r>
              <a:t>编译器的工作原理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5A623"/>
                </a:solidFill>
                <a:latin typeface="Microsoft YaHei"/>
              </a:defRPr>
            </a:pPr>
            <a:r>
              <a:t>🎯 里程碑 checkpoint: 8 月 1 日 · 所有人能跑通完整链路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2277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2E"/>
                </a:solidFill>
                <a:latin typeface="Microsoft YaHei"/>
              </a:defRPr>
            </a:pPr>
            <a:r>
              <a:t>📗 Phase 2 详解 —— 亲手实现编译器 (第 5~9 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目标：自己动手实现核心功能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6517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E86AB"/>
                </a:solidFill>
                <a:latin typeface="Microsoft YaHei"/>
              </a:defRPr>
            </a:pPr>
            <a:r>
              <a:t>DSL 前端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28600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▸ 设计并实现自己的 DSL</a:t>
            </a:r>
            <a:br/>
            <a:r>
              <a:t>▸ 解析 ONNX 模型</a:t>
            </a:r>
            <a:br/>
            <a:r>
              <a:t>▸ 输出自定义 IR</a:t>
            </a:r>
            <a:br/>
            <a:br/>
            <a:r>
              <a:t>课题：#1 DSL前端增强器</a:t>
            </a:r>
            <a:br/>
            <a:r>
              <a:t>课题：#9 错误提示美化器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011680"/>
            <a:ext cx="26517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1945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E86AB"/>
                </a:solidFill>
                <a:latin typeface="Microsoft YaHei"/>
              </a:defRPr>
            </a:pPr>
            <a:r>
              <a:t>IR 与优化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651760"/>
            <a:ext cx="228600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▸ 设计中间表示结构</a:t>
            </a:r>
            <a:br/>
            <a:r>
              <a:t>▸ 基础优化：常量折叠</a:t>
            </a:r>
            <a:br/>
            <a:r>
              <a:t>▸ 死代码消除</a:t>
            </a:r>
            <a:br/>
            <a:br/>
            <a:r>
              <a:t>课题：#21 IR 验证器</a:t>
            </a:r>
            <a:br/>
            <a:r>
              <a:t>课题：#13 窥孔优化器</a:t>
            </a:r>
            <a:br/>
            <a:r>
              <a:t>课题：#14 常量加载合并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11680"/>
            <a:ext cx="26517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E86AB"/>
                </a:solidFill>
                <a:latin typeface="Microsoft YaHei"/>
              </a:defRPr>
            </a:pPr>
            <a:r>
              <a:t>RISC-V 后端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51760"/>
            <a:ext cx="228600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▸ 指令选择和映射</a:t>
            </a:r>
            <a:br/>
            <a:r>
              <a:t>▸ 寄存器分配初步</a:t>
            </a:r>
            <a:br/>
            <a:r>
              <a:t>▸ 生成可执行汇编</a:t>
            </a:r>
            <a:br/>
            <a:br/>
            <a:r>
              <a:t>课题：#28 后端指令选择</a:t>
            </a:r>
            <a:br/>
            <a:r>
              <a:t>课题：#17 寄存器分配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011680"/>
            <a:ext cx="26517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21945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E86AB"/>
                </a:solidFill>
                <a:latin typeface="Microsoft YaHei"/>
              </a:defRPr>
            </a:pPr>
            <a:r>
              <a:t>集成验证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651760"/>
            <a:ext cx="228600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▸ 打通前中后端</a:t>
            </a:r>
            <a:br/>
            <a:r>
              <a:t>▸ 在 tinyfive 上运行</a:t>
            </a:r>
            <a:br/>
            <a:r>
              <a:t>▸ 调试与排查问题</a:t>
            </a:r>
            <a:br/>
            <a:br/>
            <a:r>
              <a:t>课题：#12 指令计数统计</a:t>
            </a:r>
            <a:br/>
            <a:r>
              <a:t>课题：#6 性能测试套件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5A623"/>
                </a:solidFill>
                <a:latin typeface="Microsoft YaHei"/>
              </a:defRPr>
            </a:pPr>
            <a:r>
              <a:t>🎯 里程碑 checkpoint: 8 月 28 日 · 编译器跑通第一个完整模型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2277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2E"/>
                </a:solidFill>
                <a:latin typeface="Microsoft YaHei"/>
              </a:defRPr>
            </a:pPr>
            <a:r>
              <a:t>📕 Phase 3 详解 —— 优化与产出 (第 10~12 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目标：打磨作品，让编译器更聪明、更快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651760" cy="34747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🚀 高级优化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E8EEFF"/>
                </a:solidFill>
                <a:latin typeface="Microsoft YaHei"/>
              </a:defRPr>
            </a:pPr>
            <a:r>
              <a:t>▸ 指令调度——让汇编指令排列更高效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E8EEFF"/>
                </a:solidFill>
                <a:latin typeface="Microsoft YaHei"/>
              </a:defRPr>
            </a:pPr>
            <a:r>
              <a:t>▸ 寄存器分配——线性扫描算法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E8EEFF"/>
                </a:solidFill>
                <a:latin typeface="Microsoft YaHei"/>
              </a:defRPr>
            </a:pPr>
            <a:r>
              <a:t>▸ 控制流图（CFG）分析与优化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011680"/>
            <a:ext cx="2651760" cy="347472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📊 评测与完善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4320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E8EEFF"/>
                </a:solidFill>
                <a:latin typeface="Microsoft YaHei"/>
              </a:defRPr>
            </a:pPr>
            <a:r>
              <a:t>▸ 编译器性能测试与基准评测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29184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E8EEFF"/>
                </a:solidFill>
                <a:latin typeface="Microsoft YaHei"/>
              </a:defRPr>
            </a:pPr>
            <a:r>
              <a:t>▸ RISC-V 指令计数统计分析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84048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E8EEFF"/>
                </a:solidFill>
                <a:latin typeface="Microsoft YaHei"/>
              </a:defRPr>
            </a:pPr>
            <a:r>
              <a:t>▸ 跨多个模型的正确性验证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011680"/>
            <a:ext cx="2651760" cy="34747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📝 文档与开源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4320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E8EEFF"/>
                </a:solidFill>
                <a:latin typeface="Microsoft YaHei"/>
              </a:defRPr>
            </a:pPr>
            <a:r>
              <a:t>▸ 编写项目文档和使用指南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9184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E8EEFF"/>
                </a:solidFill>
                <a:latin typeface="Microsoft YaHei"/>
              </a:defRPr>
            </a:pPr>
            <a:r>
              <a:t>▸ 代码规范与格式化统一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4048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E8EEFF"/>
                </a:solidFill>
                <a:latin typeface="Microsoft YaHei"/>
              </a:defRPr>
            </a:pPr>
            <a:r>
              <a:t>▸ 开源社区贡献指南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011680"/>
            <a:ext cx="2651760" cy="347472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19456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🎓 结项展示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74320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E8EEFF"/>
                </a:solidFill>
                <a:latin typeface="Microsoft YaHei"/>
              </a:defRPr>
            </a:pPr>
            <a:r>
              <a:t>▸ 成果演示 + 技术分享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29184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E8EEFF"/>
                </a:solidFill>
                <a:latin typeface="Microsoft YaHei"/>
              </a:defRPr>
            </a:pPr>
            <a:r>
              <a:t>▸ 每人总结自己的贡献与收获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84048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E8EEFF"/>
                </a:solidFill>
                <a:latin typeface="Microsoft YaHei"/>
              </a:defRPr>
            </a:pPr>
            <a:r>
              <a:t>▸ 项目成为简历上的亮点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607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5A623"/>
                </a:solidFill>
                <a:latin typeface="Microsoft YaHei"/>
              </a:defRPr>
            </a:pPr>
            <a:r>
              <a:t>🎓 结项: 9 月 27 日 · 成果展示 + 结项总结 · 项目成为你简历上的骄傲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课题相关: #11 CFG生成器 · #12 指令计数统计 · #17 寄存器分配 · #18 指令调度 · #5 汇编美化器 · #6 性能测试套件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2277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2E"/>
                </a:solidFill>
                <a:latin typeface="Microsoft YaHei"/>
              </a:defRPr>
            </a:pPr>
            <a:r>
              <a:t>🎯 课题精选总览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14 个课题覆盖编译器的各个模块，按难度分层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06D77"/>
                </a:solidFill>
                <a:latin typeface="Microsoft YaHei"/>
              </a:defRPr>
            </a:pPr>
            <a:r>
              <a:t>编号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01168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06D77"/>
                </a:solidFill>
                <a:latin typeface="Microsoft YaHei"/>
              </a:defRPr>
            </a:pPr>
            <a:r>
              <a:t>课题名称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01168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06D77"/>
                </a:solidFill>
                <a:latin typeface="Microsoft YaHei"/>
              </a:defRPr>
            </a:pPr>
            <a:r>
              <a:t>难度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10515600" cy="18288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6888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编译器性能测试套件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0" y="2450592"/>
            <a:ext cx="731520" cy="2743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61488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761488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编译器日志增强器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2743200"/>
            <a:ext cx="731520" cy="274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54096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054096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DSL错误提示美化器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0" y="3035808"/>
            <a:ext cx="731520" cy="2743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346704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346704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DSL前端增强器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0" y="3328416"/>
            <a:ext cx="731520" cy="2743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39312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639312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窥孔优化器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0" y="3621024"/>
            <a:ext cx="731520" cy="274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93192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393192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常量加载合并优化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0" y="3913632"/>
            <a:ext cx="731520" cy="274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24528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224528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RISC-V汇编代码美化器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0" y="4206240"/>
            <a:ext cx="731520" cy="274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517136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517136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项目代码规范与格式化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41280" y="4498848"/>
            <a:ext cx="731520" cy="274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809744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809744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IR 验证器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0" y="4791456"/>
            <a:ext cx="731520" cy="2743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102352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5102352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完善后端指令选择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41280" y="5084064"/>
            <a:ext cx="731520" cy="2743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39496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539496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控制流图（CFG）生成器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41280" y="5376672"/>
            <a:ext cx="731520" cy="2743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687568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5687568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RISC-V后端指令计数统计器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41280" y="5669280"/>
            <a:ext cx="731520" cy="2743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980176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5980176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寄存器分配（基本块内线性扫描）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5961888"/>
            <a:ext cx="731520" cy="2743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272784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28800" y="6272784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指令调度（基本块内列表调度）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41280" y="6254496"/>
            <a:ext cx="731520" cy="2743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2277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2E"/>
                </a:solidFill>
                <a:latin typeface="Microsoft YaHei"/>
              </a:defRPr>
            </a:pPr>
            <a:r>
              <a:t>🌟 课题详解 · 入门友好型 (难度：低)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适合新手起步，快速获得成就感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5661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548640" cy="274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#7 编译器日志增强器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3108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为编译器添加结构化日志输出</a:t>
            </a:r>
            <a:br/>
            <a:r>
              <a:t>支持不同日志级别（INFO/WARN/ERROR）</a:t>
            </a:r>
            <a:br/>
            <a:r>
              <a:t>帮助开发者调试编译流程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5661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1965960"/>
            <a:ext cx="548640" cy="274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96596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#13 窥孔优化器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108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扫描生成的汇编代码</a:t>
            </a:r>
            <a:br/>
            <a:r>
              <a:t>用更短的指令序列替换冗余模式</a:t>
            </a:r>
            <a:br/>
            <a:r>
              <a:t>经典的局部优化技术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5661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1965960"/>
            <a:ext cx="548640" cy="274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96596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#14 常量加载合并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77440"/>
            <a:ext cx="3108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识别重复的常量加载指令</a:t>
            </a:r>
            <a:br/>
            <a:r>
              <a:t>合并为一次加载，减少代码体积</a:t>
            </a:r>
            <a:br/>
            <a:r>
              <a:t>简单但效果明显的优化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06240"/>
            <a:ext cx="35661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4343400"/>
            <a:ext cx="548640" cy="274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34340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#5 RISC-V 汇编美化器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3108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格式化汇编输出</a:t>
            </a:r>
            <a:br/>
            <a:r>
              <a:t>添加注释和可读性改进</a:t>
            </a:r>
            <a:br/>
            <a:r>
              <a:t>让生成的代码更易读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206240"/>
            <a:ext cx="35661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80560" y="4343400"/>
            <a:ext cx="548640" cy="274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34340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#20 项目代码规范与格式化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754880"/>
            <a:ext cx="3108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统一代码风格</a:t>
            </a:r>
            <a:br/>
            <a:r>
              <a:t>配置 linter/formatter</a:t>
            </a:r>
            <a:br/>
            <a:r>
              <a:t>提升项目的专业性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2277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2E"/>
                </a:solidFill>
                <a:latin typeface="Microsoft YaHei"/>
              </a:defRPr>
            </a:pPr>
            <a:r>
              <a:t>⚡ 课题详解 · 进阶挑战型 (难度：中)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需要一定的编程能力，深入编译器核心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548640" cy="2743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4884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39C12"/>
                </a:solidFill>
                <a:latin typeface="Microsoft YaHei"/>
              </a:defRPr>
            </a:pPr>
            <a:r>
              <a:t>#1 DSL 前端增强器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108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扩展 DSL 语法支持</a:t>
            </a:r>
            <a:br/>
            <a:r>
              <a:t>支持更多算子类型</a:t>
            </a:r>
            <a:br/>
            <a:r>
              <a:t>改进前端解析能力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01168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2148840"/>
            <a:ext cx="548640" cy="2743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4884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39C12"/>
                </a:solidFill>
                <a:latin typeface="Microsoft YaHei"/>
              </a:defRPr>
            </a:pPr>
            <a:r>
              <a:t>#9 DSL 错误提示美化器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06040"/>
            <a:ext cx="3108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友好的错误信息展示</a:t>
            </a:r>
            <a:br/>
            <a:r>
              <a:t>精确的错误位置定位</a:t>
            </a:r>
            <a:br/>
            <a:r>
              <a:t>彩色终端输出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01168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2148840"/>
            <a:ext cx="548640" cy="2743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14884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39C12"/>
                </a:solidFill>
                <a:latin typeface="Microsoft YaHei"/>
              </a:defRPr>
            </a:pPr>
            <a:r>
              <a:t>#6 编译器性能测试套件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06040"/>
            <a:ext cx="3108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自动化 benchmark 流程</a:t>
            </a:r>
            <a:br/>
            <a:r>
              <a:t>统计编译时间和代码质量</a:t>
            </a:r>
            <a:br/>
            <a:r>
              <a:t>生成性能对比报告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4572000"/>
            <a:ext cx="35661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60320" y="4709160"/>
            <a:ext cx="548640" cy="2743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70916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39C12"/>
                </a:solidFill>
                <a:latin typeface="Microsoft YaHei"/>
              </a:defRPr>
            </a:pPr>
            <a:r>
              <a:t>#21 IR 验证器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5166360"/>
            <a:ext cx="3108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检查IR的合法性</a:t>
            </a:r>
            <a:br/>
            <a:r>
              <a:t>验证数据流正确性</a:t>
            </a:r>
            <a:br/>
            <a:r>
              <a:t>确保优化不改变语义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572000"/>
            <a:ext cx="35661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4709160"/>
            <a:ext cx="548640" cy="2743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70916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39C12"/>
                </a:solidFill>
                <a:latin typeface="Microsoft YaHei"/>
              </a:defRPr>
            </a:pPr>
            <a:r>
              <a:t>#28 完善后端指令选择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166360"/>
            <a:ext cx="3108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扩展指令选择规则</a:t>
            </a:r>
            <a:br/>
            <a:r>
              <a:t>支持更多 RISC-V 指令</a:t>
            </a:r>
            <a:br/>
            <a:r>
              <a:t>后端功能完善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2277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2E"/>
                </a:solidFill>
                <a:latin typeface="Microsoft YaHei"/>
              </a:defRPr>
            </a:pPr>
            <a:r>
              <a:t>🏆 课题详解 · 大神修炼型 (难度：高)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挑战编译器核心算法，收获满满硬技能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651760" cy="365760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548640" cy="2743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74C3C"/>
                </a:solidFill>
                <a:latin typeface="Microsoft YaHei"/>
              </a:defRPr>
            </a:pPr>
            <a:r>
              <a:t>#11 控制流图（CFG）生成器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22860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从 IR 中构建基本块</a:t>
            </a:r>
            <a:br/>
            <a:r>
              <a:t>生成控制流图可视化</a:t>
            </a:r>
            <a:br/>
            <a:r>
              <a:t>为后续优化奠定基础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12080"/>
            <a:ext cx="228600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编译优化 · 图算法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011680"/>
            <a:ext cx="2651760" cy="365760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2148840"/>
            <a:ext cx="548640" cy="2743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56032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74C3C"/>
                </a:solidFill>
                <a:latin typeface="Microsoft YaHei"/>
              </a:defRPr>
            </a:pPr>
            <a:r>
              <a:t>#12 RISC-V 后端指令计数统计器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108960"/>
            <a:ext cx="22860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统计生成的各类指令数量</a:t>
            </a:r>
            <a:br/>
            <a:r>
              <a:t>分析指令分布特征</a:t>
            </a:r>
            <a:br/>
            <a:r>
              <a:t>输出可视化统计报告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5212080"/>
            <a:ext cx="228600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数据分析 · 可视化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011680"/>
            <a:ext cx="2651760" cy="365760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2148840"/>
            <a:ext cx="548640" cy="2743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6032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74C3C"/>
                </a:solidFill>
                <a:latin typeface="Microsoft YaHei"/>
              </a:defRPr>
            </a:pPr>
            <a:r>
              <a:t>#17 寄存器分配（基本块内线性扫描）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108960"/>
            <a:ext cx="22860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实现寄存器分配算法</a:t>
            </a:r>
            <a:br/>
            <a:r>
              <a:t>处理变量生命周期</a:t>
            </a:r>
            <a:br/>
            <a:r>
              <a:t>优化寄存器使用效率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5212080"/>
            <a:ext cx="228600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经典算法实现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011680"/>
            <a:ext cx="2651760" cy="365760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18320" y="2148840"/>
            <a:ext cx="548640" cy="2743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56032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74C3C"/>
                </a:solidFill>
                <a:latin typeface="Microsoft YaHei"/>
              </a:defRPr>
            </a:pPr>
            <a:r>
              <a:t>#18 指令调度（基本块内列表调度）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108960"/>
            <a:ext cx="22860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分析指令依赖关系</a:t>
            </a:r>
            <a:br/>
            <a:r>
              <a:t>重排指令顺序</a:t>
            </a:r>
            <a:br/>
            <a:r>
              <a:t>提高流水线效率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5212080"/>
            <a:ext cx="228600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编译优化 · 调度算法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💡 高难度课题有 mentor 全程指导，不用担心做不出来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2277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2E"/>
                </a:solidFill>
                <a:latin typeface="Microsoft YaHei"/>
              </a:defRPr>
            </a:pPr>
            <a:r>
              <a:t>🙋 谁适合报名？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73152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2D2D2D"/>
                </a:solidFill>
                <a:latin typeface="Microsoft YaHei"/>
              </a:defRPr>
            </a:pPr>
            <a:r>
              <a:t>✅  大二、大三、研一，或者自学编程爱好者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011680"/>
            <a:ext cx="3474720" cy="73152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14884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2D2D2D"/>
                </a:solidFill>
                <a:latin typeface="Microsoft YaHei"/>
              </a:defRPr>
            </a:pPr>
            <a:r>
              <a:t>✅  学过一门编程语言（Python / C / C++ 都行）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011680"/>
            <a:ext cx="3474720" cy="73152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214884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2D2D2D"/>
                </a:solidFill>
                <a:latin typeface="Microsoft YaHei"/>
              </a:defRPr>
            </a:pPr>
            <a:r>
              <a:t>✅  对“计算机到底怎么跑程序”有好奇心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3474720" cy="73152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2D2D2D"/>
                </a:solidFill>
                <a:latin typeface="Microsoft YaHei"/>
              </a:defRPr>
            </a:pPr>
            <a:r>
              <a:t>✅  不怕犯错，敢写代码（Bug 是学习的一部分！）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108960"/>
            <a:ext cx="3474720" cy="73152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324612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2D2D2D"/>
                </a:solidFill>
                <a:latin typeface="Microsoft YaHei"/>
              </a:defRPr>
            </a:pPr>
            <a:r>
              <a:t>✅  每周能拿出 8～10 小时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你可能还没学过编译原理、还没搞懂指令集、甚至对汇编有点畏惧——都没关系。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006D77"/>
                </a:solidFill>
                <a:latin typeface="Microsoft YaHei"/>
              </a:defRPr>
            </a:pPr>
            <a:r>
              <a:t>我们就是来带你一步步跨过这些坎的。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2277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2E"/>
                </a:solidFill>
                <a:latin typeface="Microsoft YaHei"/>
              </a:defRPr>
            </a:pPr>
            <a:r>
              <a:t>📅 关键时间节点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2286000"/>
            <a:ext cx="274320" cy="27432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2395728"/>
            <a:ext cx="1188720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即日起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7373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开始报名</a:t>
            </a:r>
          </a:p>
        </p:txBody>
      </p:sp>
      <p:sp>
        <p:nvSpPr>
          <p:cNvPr id="9" name="Oval 8"/>
          <p:cNvSpPr/>
          <p:nvPr/>
        </p:nvSpPr>
        <p:spPr>
          <a:xfrm>
            <a:off x="3108960" y="2286000"/>
            <a:ext cx="274320" cy="27432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2395728"/>
            <a:ext cx="1188720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265176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6 月 20 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017520"/>
            <a:ext cx="17373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线上宣讲 + 课题选择</a:t>
            </a:r>
            <a:br/>
            <a:r>
              <a:t>报名截止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0" y="2286000"/>
            <a:ext cx="274320" cy="27432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0" y="2395728"/>
            <a:ext cx="1188720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65176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7 月 10 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017520"/>
            <a:ext cx="17373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项目正式开启</a:t>
            </a:r>
            <a:br/>
            <a:r>
              <a:t>启动会 + 第一周任务</a:t>
            </a:r>
          </a:p>
        </p:txBody>
      </p:sp>
      <p:sp>
        <p:nvSpPr>
          <p:cNvPr id="17" name="Oval 16"/>
          <p:cNvSpPr/>
          <p:nvPr/>
        </p:nvSpPr>
        <p:spPr>
          <a:xfrm>
            <a:off x="6949440" y="2286000"/>
            <a:ext cx="274320" cy="27432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60" y="2395728"/>
            <a:ext cx="1188720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65176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8 月 1 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017520"/>
            <a:ext cx="17373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Phase 1 关键成果验收</a:t>
            </a:r>
            <a:br/>
            <a:r>
              <a:t>第一个里程碑</a:t>
            </a:r>
          </a:p>
        </p:txBody>
      </p:sp>
      <p:sp>
        <p:nvSpPr>
          <p:cNvPr id="21" name="Oval 20"/>
          <p:cNvSpPr/>
          <p:nvPr/>
        </p:nvSpPr>
        <p:spPr>
          <a:xfrm>
            <a:off x="8869680" y="2286000"/>
            <a:ext cx="274320" cy="27432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2395728"/>
            <a:ext cx="1188720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65176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8 月 28 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017520"/>
            <a:ext cx="17373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Phase 2 关键成果验收</a:t>
            </a:r>
            <a:br/>
            <a:r>
              <a:t>第二个里程碑</a:t>
            </a:r>
          </a:p>
        </p:txBody>
      </p:sp>
      <p:sp>
        <p:nvSpPr>
          <p:cNvPr id="25" name="Oval 24"/>
          <p:cNvSpPr/>
          <p:nvPr/>
        </p:nvSpPr>
        <p:spPr>
          <a:xfrm>
            <a:off x="10789920" y="2286000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20" y="2651760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9 月 27 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3017520"/>
            <a:ext cx="17373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项目结项</a:t>
            </a:r>
            <a:br/>
            <a:r>
              <a:t>成果展示 + 总结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2277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A1A2E"/>
                </a:solidFill>
                <a:latin typeface="Microsoft YaHei"/>
              </a:defRPr>
            </a:pPr>
            <a:r>
              <a:t>💬 常见疑问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515600" cy="41148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5623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Q: 没听过 ONNX，能行吗？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A: 当然可以。第 1 周就会带你跑通例子，ONNX 只是一个文件格式，把它当成“模型存盘”就好。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10515600" cy="41148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4495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Q: 没学过编译原理，会不会听不懂？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A: 我们会用直观的比喻（编译器就像“翻译官”），避开理论轰炸，先动手再做总结。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515600" cy="41148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3367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Q: 需要买 RISC-V 开发板吗？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0916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A: 不需要。全程用软件模拟器（tinyfive），在笔记本电脑上就能跑。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10515600" cy="41148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22392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Q: 中途跟不上怎么办？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978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A: 每个阶段有进度检查，mentor 会主动帮忙。有缓冲时间，可选只完成核心路径。完成比完美重要。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4572000"/>
            <a:ext cx="1828800" cy="1828800"/>
          </a:xfrm>
          <a:prstGeom prst="ellipse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3840480"/>
            <a:ext cx="1828800" cy="1828800"/>
          </a:xfrm>
          <a:prstGeom prst="ellipse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0" y="3108960"/>
            <a:ext cx="1828800" cy="1828800"/>
          </a:xfrm>
          <a:prstGeom prst="ellipse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258800" y="2377439"/>
            <a:ext cx="1828800" cy="1828800"/>
          </a:xfrm>
          <a:prstGeom prst="ellipse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1440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🌟 从今天起，给自己一个</a:t>
            </a:r>
            <a:br/>
            <a:r>
              <a:t>“创造编译器”的机会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CCCCDD"/>
                </a:solidFill>
                <a:latin typeface="Microsoft YaHei"/>
              </a:defRPr>
            </a:pPr>
            <a:r>
              <a:t>也许你现在觉得编译器遥不可及，</a:t>
            </a:r>
            <a:br/>
            <a:r>
              <a:t>但三个月后，你会看着自己写的代码，把一行行模型规则变成芯片指令。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5A623"/>
                </a:solidFill>
                <a:latin typeface="Microsoft YaHei"/>
              </a:defRPr>
            </a:pPr>
            <a:r>
              <a:t>“我居然做到了”——这会是大学期间最难忘的回忆之一。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不要让“基础不够”成为不敢开始的理由。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2120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AACCFF"/>
                </a:solidFill>
                <a:latin typeface="Microsoft YaHei"/>
              </a:defRPr>
            </a:pPr>
            <a:r>
              <a:t>👉 立即报名：https://your-form-link.com      📧 咨询：mentor@example.com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8888AA"/>
                </a:solidFill>
                <a:latin typeface="Microsoft YaHei"/>
              </a:defRPr>
            </a:pPr>
            <a:r>
              <a:t>QQ 群：xxxxxxxxx    欢迎转发给同样好奇的小伙伴！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621792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5A623"/>
                </a:solidFill>
                <a:latin typeface="Microsoft YaHei"/>
              </a:defRPr>
            </a:pPr>
            <a:r>
              <a:t>你不需要很厉害才能开始，但你需要开始才能很厉害。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10058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Thank You 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47472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>
                <a:solidFill>
                  <a:srgbClr val="2E86AB"/>
                </a:solidFill>
                <a:latin typeface="Microsoft YaHei"/>
              </a:defRPr>
            </a:pPr>
            <a:r>
              <a:t>期待与你一起，开启编译器的奇妙旅程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AAAAAA"/>
                </a:solidFill>
                <a:latin typeface="Microsoft YaHei"/>
              </a:defRPr>
            </a:pPr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